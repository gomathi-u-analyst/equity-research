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15" r:id="rId2"/>
    <p:sldId id="308" r:id="rId3"/>
    <p:sldId id="307" r:id="rId4"/>
    <p:sldId id="309" r:id="rId5"/>
    <p:sldId id="313" r:id="rId6"/>
    <p:sldId id="312" r:id="rId7"/>
    <p:sldId id="317" r:id="rId8"/>
    <p:sldId id="311" r:id="rId9"/>
    <p:sldId id="310" r:id="rId10"/>
    <p:sldId id="31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D99B"/>
    <a:srgbClr val="F8F8F8"/>
    <a:srgbClr val="292C48"/>
    <a:srgbClr val="2C2D39"/>
    <a:srgbClr val="242630"/>
    <a:srgbClr val="2A1F43"/>
    <a:srgbClr val="0C1B43"/>
    <a:srgbClr val="000000"/>
    <a:srgbClr val="1D2225"/>
    <a:srgbClr val="363C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2711" autoAdjust="0"/>
  </p:normalViewPr>
  <p:slideViewPr>
    <p:cSldViewPr snapToGrid="0" snapToObjects="1">
      <p:cViewPr varScale="1">
        <p:scale>
          <a:sx n="64" d="100"/>
          <a:sy n="64" d="100"/>
        </p:scale>
        <p:origin x="142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6" d="100"/>
          <a:sy n="86" d="100"/>
        </p:scale>
        <p:origin x="2416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5305247921236171E-2"/>
          <c:y val="0.15769453521586796"/>
          <c:w val="0.58325902588319611"/>
          <c:h val="0.747025587208361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0162-4BD5-B830-CB738A747EE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0162-4BD5-B830-CB738A747EEF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KYMCO, SYM, YAMAHA</c:v>
                </c:pt>
                <c:pt idx="1">
                  <c:v>GOGORO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162-4BD5-B830-CB738A747EEF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439207028378346E-2"/>
          <c:y val="0.23259619326692046"/>
          <c:w val="0.51923442381345863"/>
          <c:h val="0.7256506122688984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0162-4BD5-B830-CB738A747EEF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0162-4BD5-B830-CB738A747EEF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AC68-46B7-8EC7-3ACACDE31655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32F9-4900-A6D7-CC79D61F37AA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OLA ELECTRIC</c:v>
                </c:pt>
                <c:pt idx="1">
                  <c:v>HERO</c:v>
                </c:pt>
                <c:pt idx="2">
                  <c:v>TVS MOTOR</c:v>
                </c:pt>
                <c:pt idx="3">
                  <c:v>BAJAJ 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0.34799999999999998</c:v>
                </c:pt>
                <c:pt idx="1">
                  <c:v>1E-3</c:v>
                </c:pt>
                <c:pt idx="2">
                  <c:v>0.193</c:v>
                </c:pt>
                <c:pt idx="3">
                  <c:v>3.9E-2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162-4BD5-B830-CB738A747EEF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 dirty="0"/>
              <a:t>Gogoro’s Revenue Mix</a:t>
            </a:r>
          </a:p>
        </c:rich>
      </c:tx>
      <c:layout>
        <c:manualLayout>
          <c:xMode val="edge"/>
          <c:yMode val="edge"/>
          <c:x val="1.7720244145586084E-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308169291338582"/>
          <c:y val="0.21640809028898458"/>
          <c:w val="0.76614386482939634"/>
          <c:h val="0.5324082285668501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Scooter 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dLbl>
              <c:idx val="0"/>
              <c:layout>
                <c:manualLayout>
                  <c:x val="-4.7371763788745531E-2"/>
                  <c:y val="4.92372586477781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E43-496F-92C3-FA3D847758CA}"/>
                </c:ext>
              </c:extLst>
            </c:dLbl>
            <c:dLbl>
              <c:idx val="1"/>
              <c:layout>
                <c:manualLayout>
                  <c:x val="-5.4897793406635156E-2"/>
                  <c:y val="-3.692794398583362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E43-496F-92C3-FA3D847758CA}"/>
                </c:ext>
              </c:extLst>
            </c:dLbl>
            <c:dLbl>
              <c:idx val="2"/>
              <c:layout>
                <c:manualLayout>
                  <c:x val="-3.2319704552966434E-2"/>
                  <c:y val="-8.206209774629694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E43-496F-92C3-FA3D847758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266.42</c:v>
                </c:pt>
                <c:pt idx="1">
                  <c:v>261.17</c:v>
                </c:pt>
                <c:pt idx="2">
                  <c:v>218.06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E43-496F-92C3-FA3D847758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Battery swap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dLbl>
              <c:idx val="1"/>
              <c:layout>
                <c:manualLayout>
                  <c:x val="-5.8660808215579861E-2"/>
                  <c:y val="-2.461862932388915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E43-496F-92C3-FA3D847758CA}"/>
                </c:ext>
              </c:extLst>
            </c:dLbl>
            <c:dLbl>
              <c:idx val="2"/>
              <c:layout>
                <c:manualLayout>
                  <c:x val="-5.3016286002162696E-2"/>
                  <c:y val="6.154657330972263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E43-496F-92C3-FA3D847758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99.59</c:v>
                </c:pt>
                <c:pt idx="1">
                  <c:v>121.66</c:v>
                </c:pt>
                <c:pt idx="2">
                  <c:v>131.78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E43-496F-92C3-FA3D847758C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487403759"/>
        <c:axId val="1487404239"/>
      </c:lineChart>
      <c:catAx>
        <c:axId val="14874037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404239"/>
        <c:crosses val="autoZero"/>
        <c:auto val="1"/>
        <c:lblAlgn val="ctr"/>
        <c:lblOffset val="100"/>
        <c:noMultiLvlLbl val="0"/>
      </c:catAx>
      <c:valAx>
        <c:axId val="14874042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Values</a:t>
                </a:r>
                <a:r>
                  <a:rPr lang="en-IN" baseline="0" dirty="0"/>
                  <a:t> in $ M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4037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Investor Reservation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Retail</c:v>
                </c:pt>
              </c:strCache>
            </c:strRef>
          </c:tx>
          <c:spPr>
            <a:solidFill>
              <a:srgbClr val="002060">
                <a:alpha val="85000"/>
              </a:srgb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0"/>
              <c:layout>
                <c:manualLayout>
                  <c:x val="1.3888885851074836E-2"/>
                  <c:y val="2.4534161018174072E-2"/>
                </c:manualLayout>
              </c:layout>
              <c:tx>
                <c:rich>
                  <a:bodyPr/>
                  <a:lstStyle/>
                  <a:p>
                    <a:fld id="{FE72F6E7-96A3-4518-AC57-79F286E1AEA2}" type="VALUE">
                      <a:rPr lang="en-US" dirty="0">
                        <a:solidFill>
                          <a:schemeClr val="tx1"/>
                        </a:solidFill>
                      </a:rPr>
                      <a:pPr/>
                      <a:t>[VALUE]</a:t>
                    </a:fld>
                    <a:endParaRPr lang="en-IN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2A54-427B-A48B-24CB30E33AF1}"/>
                </c:ext>
              </c:extLst>
            </c:dLbl>
            <c:dLbl>
              <c:idx val="1"/>
              <c:layout>
                <c:manualLayout>
                  <c:x val="2.7777771702148651E-3"/>
                  <c:y val="1.517767076705381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6EB-425B-A373-2C50509A8BA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OLA ELECTRIC</c:v>
                </c:pt>
                <c:pt idx="1">
                  <c:v>GOGORO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74</c:v>
                </c:pt>
                <c:pt idx="1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8F-4799-8B8D-D0E380A400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Institutional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OLA ELECTRIC</c:v>
                </c:pt>
                <c:pt idx="1">
                  <c:v>GOGORO</c:v>
                </c:pt>
              </c:strCache>
            </c:strRef>
          </c:cat>
          <c:val>
            <c:numRef>
              <c:f>Sheet1!$C$2:$C$3</c:f>
              <c:numCache>
                <c:formatCode>#,##0</c:formatCode>
                <c:ptCount val="2"/>
                <c:pt idx="0" formatCode="General">
                  <c:v>555</c:v>
                </c:pt>
                <c:pt idx="1">
                  <c:v>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F8F-4799-8B8D-D0E380A400F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702548016"/>
        <c:axId val="702545136"/>
      </c:barChart>
      <c:catAx>
        <c:axId val="702548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2545136"/>
        <c:crosses val="autoZero"/>
        <c:auto val="1"/>
        <c:lblAlgn val="ctr"/>
        <c:lblOffset val="100"/>
        <c:noMultiLvlLbl val="0"/>
      </c:catAx>
      <c:valAx>
        <c:axId val="702545136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Amt in  USD million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crossAx val="702548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Post -IPO Price Trend  </a:t>
            </a:r>
            <a:r>
              <a:rPr lang="en-IN" sz="1200" dirty="0"/>
              <a:t>(6,7)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GOGORO</c:v>
                </c:pt>
              </c:strCache>
            </c:strRef>
          </c:tx>
          <c:spPr>
            <a:ln w="22225" cap="rnd">
              <a:solidFill>
                <a:schemeClr val="accent1"/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dLbls>
            <c:dLbl>
              <c:idx val="0"/>
              <c:layout>
                <c:manualLayout>
                  <c:x val="-0.11261384034994143"/>
                  <c:y val="-5.85139304621064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EA18-473F-9626-B9FB7E19CE77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A18-473F-9626-B9FB7E19CE77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A18-473F-9626-B9FB7E19CE77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A18-473F-9626-B9FB7E19CE77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A18-473F-9626-B9FB7E19CE77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A18-473F-9626-B9FB7E19CE77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A18-473F-9626-B9FB7E19CE77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A18-473F-9626-B9FB7E19CE77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A18-473F-9626-B9FB7E19CE77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A18-473F-9626-B9FB7E19CE77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A18-473F-9626-B9FB7E19CE77}"/>
                </c:ext>
              </c:extLst>
            </c:dLbl>
            <c:dLbl>
              <c:idx val="11"/>
              <c:layout>
                <c:manualLayout>
                  <c:x val="-1.7676559161997637E-16"/>
                  <c:y val="-2.467050159569914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810-4DAF-B4E8-E4875BB1818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mmm\-yy</c:formatCode>
                <c:ptCount val="12"/>
                <c:pt idx="0">
                  <c:v>44652</c:v>
                </c:pt>
                <c:pt idx="1">
                  <c:v>44805</c:v>
                </c:pt>
                <c:pt idx="2">
                  <c:v>44986</c:v>
                </c:pt>
                <c:pt idx="3">
                  <c:v>45017</c:v>
                </c:pt>
                <c:pt idx="4">
                  <c:v>45170</c:v>
                </c:pt>
                <c:pt idx="5">
                  <c:v>45352</c:v>
                </c:pt>
                <c:pt idx="6">
                  <c:v>45383</c:v>
                </c:pt>
                <c:pt idx="7">
                  <c:v>45505</c:v>
                </c:pt>
                <c:pt idx="8">
                  <c:v>45536</c:v>
                </c:pt>
                <c:pt idx="9">
                  <c:v>45717</c:v>
                </c:pt>
                <c:pt idx="10">
                  <c:v>45748</c:v>
                </c:pt>
                <c:pt idx="11">
                  <c:v>45901</c:v>
                </c:pt>
              </c:numCache>
            </c:numRef>
          </c:cat>
          <c:val>
            <c:numRef>
              <c:f>Sheet1!$B$2:$B$13</c:f>
              <c:numCache>
                <c:formatCode>[$USD]\ #,##0.00</c:formatCode>
                <c:ptCount val="12"/>
                <c:pt idx="0">
                  <c:v>319.18</c:v>
                </c:pt>
                <c:pt idx="1">
                  <c:v>75.400000000000006</c:v>
                </c:pt>
                <c:pt idx="2">
                  <c:v>81</c:v>
                </c:pt>
                <c:pt idx="3">
                  <c:v>67.2</c:v>
                </c:pt>
                <c:pt idx="4">
                  <c:v>52.4</c:v>
                </c:pt>
                <c:pt idx="5">
                  <c:v>36.799999999999997</c:v>
                </c:pt>
                <c:pt idx="6">
                  <c:v>31.8</c:v>
                </c:pt>
                <c:pt idx="7">
                  <c:v>15</c:v>
                </c:pt>
                <c:pt idx="8">
                  <c:v>10.6</c:v>
                </c:pt>
                <c:pt idx="9">
                  <c:v>5.4</c:v>
                </c:pt>
                <c:pt idx="10">
                  <c:v>5</c:v>
                </c:pt>
                <c:pt idx="11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A18-473F-9626-B9FB7E19CE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OLA EML</c:v>
                </c:pt>
              </c:strCache>
            </c:strRef>
          </c:tx>
          <c:spPr>
            <a:ln w="22225" cap="rnd">
              <a:solidFill>
                <a:schemeClr val="accent2"/>
              </a:solidFill>
            </a:ln>
            <a:effectLst>
              <a:glow rad="139700">
                <a:schemeClr val="accent2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dLbls>
            <c:dLbl>
              <c:idx val="6"/>
              <c:layout>
                <c:manualLayout>
                  <c:x val="-0.11930302874674831"/>
                  <c:y val="-6.176470437666794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EA18-473F-9626-B9FB7E19CE77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EA18-473F-9626-B9FB7E19CE77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EA18-473F-9626-B9FB7E19CE77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EA18-473F-9626-B9FB7E19CE77}"/>
                </c:ext>
              </c:extLst>
            </c:dLbl>
            <c:dLbl>
              <c:idx val="11"/>
              <c:layout>
                <c:manualLayout>
                  <c:x val="-7.3861515622933825E-4"/>
                  <c:y val="-6.826625220579088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810-4DAF-B4E8-E4875BB1818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Sheet1!$A$2:$A$13</c:f>
              <c:numCache>
                <c:formatCode>mmm\-yy</c:formatCode>
                <c:ptCount val="12"/>
                <c:pt idx="0">
                  <c:v>44652</c:v>
                </c:pt>
                <c:pt idx="1">
                  <c:v>44805</c:v>
                </c:pt>
                <c:pt idx="2">
                  <c:v>44986</c:v>
                </c:pt>
                <c:pt idx="3">
                  <c:v>45017</c:v>
                </c:pt>
                <c:pt idx="4">
                  <c:v>45170</c:v>
                </c:pt>
                <c:pt idx="5">
                  <c:v>45352</c:v>
                </c:pt>
                <c:pt idx="6">
                  <c:v>45383</c:v>
                </c:pt>
                <c:pt idx="7">
                  <c:v>45505</c:v>
                </c:pt>
                <c:pt idx="8">
                  <c:v>45536</c:v>
                </c:pt>
                <c:pt idx="9">
                  <c:v>45717</c:v>
                </c:pt>
                <c:pt idx="10">
                  <c:v>45748</c:v>
                </c:pt>
                <c:pt idx="11">
                  <c:v>45901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  <c:pt idx="7" formatCode="&quot;₹&quot;\ #,##0.00">
                  <c:v>97.21</c:v>
                </c:pt>
                <c:pt idx="8" formatCode="&quot;₹&quot;\ #,##0.00">
                  <c:v>100</c:v>
                </c:pt>
                <c:pt idx="9" formatCode="&quot;₹&quot;\ #,##0.00">
                  <c:v>53.72</c:v>
                </c:pt>
                <c:pt idx="10" formatCode="&quot;₹&quot;\ #,##0.00">
                  <c:v>48.51</c:v>
                </c:pt>
                <c:pt idx="11" formatCode="&quot;₹&quot;\ #,##0.00">
                  <c:v>57.23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A18-473F-9626-B9FB7E19CE7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902741951"/>
        <c:axId val="1902742911"/>
      </c:lineChart>
      <c:dateAx>
        <c:axId val="1902741951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2742911"/>
        <c:crosses val="autoZero"/>
        <c:auto val="1"/>
        <c:lblOffset val="100"/>
        <c:baseTimeUnit val="months"/>
      </c:dateAx>
      <c:valAx>
        <c:axId val="1902742911"/>
        <c:scaling>
          <c:orientation val="minMax"/>
        </c:scaling>
        <c:delete val="1"/>
        <c:axPos val="l"/>
        <c:numFmt formatCode="[$USD]\ #,##0.00" sourceLinked="1"/>
        <c:majorTickMark val="none"/>
        <c:minorTickMark val="none"/>
        <c:tickLblPos val="nextTo"/>
        <c:crossAx val="1902741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Post -IPO Price Trend  </a:t>
            </a:r>
            <a:r>
              <a:rPr lang="en-IN" sz="1200" dirty="0"/>
              <a:t>(6,7)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GOGORO</c:v>
                </c:pt>
              </c:strCache>
            </c:strRef>
          </c:tx>
          <c:spPr>
            <a:ln w="22225" cap="rnd">
              <a:solidFill>
                <a:schemeClr val="accent1"/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dLbls>
            <c:dLbl>
              <c:idx val="0"/>
              <c:layout>
                <c:manualLayout>
                  <c:x val="-0.11261384034994143"/>
                  <c:y val="-5.85139304621064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EA18-473F-9626-B9FB7E19CE77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A18-473F-9626-B9FB7E19CE77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A18-473F-9626-B9FB7E19CE77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A18-473F-9626-B9FB7E19CE77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A18-473F-9626-B9FB7E19CE77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A18-473F-9626-B9FB7E19CE77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A18-473F-9626-B9FB7E19CE77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A18-473F-9626-B9FB7E19CE77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A18-473F-9626-B9FB7E19CE77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A18-473F-9626-B9FB7E19CE77}"/>
                </c:ext>
              </c:extLst>
            </c:dLbl>
            <c:dLbl>
              <c:idx val="10"/>
              <c:layout>
                <c:manualLayout>
                  <c:x val="-1.7676559161997637E-16"/>
                  <c:y val="-2.467050159569914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A18-473F-9626-B9FB7E19CE7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Sheet1!$A$2:$A$12</c:f>
              <c:numCache>
                <c:formatCode>mmm\-yy</c:formatCode>
                <c:ptCount val="11"/>
                <c:pt idx="0">
                  <c:v>44652</c:v>
                </c:pt>
                <c:pt idx="1">
                  <c:v>44805</c:v>
                </c:pt>
                <c:pt idx="2">
                  <c:v>44986</c:v>
                </c:pt>
                <c:pt idx="3">
                  <c:v>45017</c:v>
                </c:pt>
                <c:pt idx="4">
                  <c:v>45170</c:v>
                </c:pt>
                <c:pt idx="5">
                  <c:v>45352</c:v>
                </c:pt>
                <c:pt idx="6">
                  <c:v>45383</c:v>
                </c:pt>
                <c:pt idx="7">
                  <c:v>45536</c:v>
                </c:pt>
                <c:pt idx="8">
                  <c:v>45717</c:v>
                </c:pt>
                <c:pt idx="9">
                  <c:v>45748</c:v>
                </c:pt>
                <c:pt idx="10">
                  <c:v>45901</c:v>
                </c:pt>
              </c:numCache>
            </c:numRef>
          </c:cat>
          <c:val>
            <c:numRef>
              <c:f>Sheet1!$B$2:$B$12</c:f>
              <c:numCache>
                <c:formatCode>[$USD]\ #,##0.00</c:formatCode>
                <c:ptCount val="11"/>
                <c:pt idx="0">
                  <c:v>319.18</c:v>
                </c:pt>
                <c:pt idx="1">
                  <c:v>75.400000000000006</c:v>
                </c:pt>
                <c:pt idx="2">
                  <c:v>81</c:v>
                </c:pt>
                <c:pt idx="3">
                  <c:v>67.2</c:v>
                </c:pt>
                <c:pt idx="4">
                  <c:v>52.4</c:v>
                </c:pt>
                <c:pt idx="5">
                  <c:v>36.799999999999997</c:v>
                </c:pt>
                <c:pt idx="6">
                  <c:v>31.8</c:v>
                </c:pt>
                <c:pt idx="7">
                  <c:v>10.6</c:v>
                </c:pt>
                <c:pt idx="8">
                  <c:v>5.4</c:v>
                </c:pt>
                <c:pt idx="9">
                  <c:v>5</c:v>
                </c:pt>
                <c:pt idx="10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A18-473F-9626-B9FB7E19CE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OLA EML</c:v>
                </c:pt>
              </c:strCache>
            </c:strRef>
          </c:tx>
          <c:spPr>
            <a:ln w="22225" cap="rnd">
              <a:solidFill>
                <a:schemeClr val="accent2"/>
              </a:solidFill>
            </a:ln>
            <a:effectLst>
              <a:glow rad="139700">
                <a:schemeClr val="accent2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dLbls>
            <c:dLbl>
              <c:idx val="6"/>
              <c:layout>
                <c:manualLayout>
                  <c:x val="-0.11930302874674831"/>
                  <c:y val="-6.176470437666794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EA18-473F-9626-B9FB7E19CE77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EA18-473F-9626-B9FB7E19CE77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EA18-473F-9626-B9FB7E19CE77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EA18-473F-9626-B9FB7E19CE77}"/>
                </c:ext>
              </c:extLst>
            </c:dLbl>
            <c:dLbl>
              <c:idx val="10"/>
              <c:layout>
                <c:manualLayout>
                  <c:x val="-7.3861515622933825E-4"/>
                  <c:y val="-6.826625220579088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EA18-473F-9626-B9FB7E19CE7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Sheet1!$A$2:$A$12</c:f>
              <c:numCache>
                <c:formatCode>mmm\-yy</c:formatCode>
                <c:ptCount val="11"/>
                <c:pt idx="0">
                  <c:v>44652</c:v>
                </c:pt>
                <c:pt idx="1">
                  <c:v>44805</c:v>
                </c:pt>
                <c:pt idx="2">
                  <c:v>44986</c:v>
                </c:pt>
                <c:pt idx="3">
                  <c:v>45017</c:v>
                </c:pt>
                <c:pt idx="4">
                  <c:v>45170</c:v>
                </c:pt>
                <c:pt idx="5">
                  <c:v>45352</c:v>
                </c:pt>
                <c:pt idx="6">
                  <c:v>45383</c:v>
                </c:pt>
                <c:pt idx="7">
                  <c:v>45536</c:v>
                </c:pt>
                <c:pt idx="8">
                  <c:v>45717</c:v>
                </c:pt>
                <c:pt idx="9">
                  <c:v>45748</c:v>
                </c:pt>
                <c:pt idx="10">
                  <c:v>45901</c:v>
                </c:pt>
              </c:numCache>
            </c:numRef>
          </c:cat>
          <c:val>
            <c:numRef>
              <c:f>Sheet1!$C$2:$C$12</c:f>
              <c:numCache>
                <c:formatCode>General</c:formatCode>
                <c:ptCount val="11"/>
                <c:pt idx="6" formatCode="&quot;₹&quot;\ #,##0.00">
                  <c:v>97.21</c:v>
                </c:pt>
                <c:pt idx="7" formatCode="&quot;₹&quot;\ #,##0.00">
                  <c:v>100</c:v>
                </c:pt>
                <c:pt idx="8" formatCode="&quot;₹&quot;\ #,##0.00">
                  <c:v>53.72</c:v>
                </c:pt>
                <c:pt idx="9" formatCode="&quot;₹&quot;\ #,##0.00">
                  <c:v>48.51</c:v>
                </c:pt>
                <c:pt idx="10" formatCode="&quot;₹&quot;\ #,##0.00">
                  <c:v>57.23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A18-473F-9626-B9FB7E19CE7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902741951"/>
        <c:axId val="1902742911"/>
      </c:lineChart>
      <c:dateAx>
        <c:axId val="1902741951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2742911"/>
        <c:crosses val="autoZero"/>
        <c:auto val="1"/>
        <c:lblOffset val="100"/>
        <c:baseTimeUnit val="months"/>
      </c:dateAx>
      <c:valAx>
        <c:axId val="1902742911"/>
        <c:scaling>
          <c:orientation val="minMax"/>
        </c:scaling>
        <c:delete val="1"/>
        <c:axPos val="l"/>
        <c:numFmt formatCode="[$USD]\ #,##0.00" sourceLinked="1"/>
        <c:majorTickMark val="none"/>
        <c:minorTickMark val="none"/>
        <c:tickLblPos val="nextTo"/>
        <c:crossAx val="1902741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D5A2E05-2C6E-484E-9BB1-366C90717B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043844-B7FE-EC43-89AA-8831B859F9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138B2-18CD-1D41-89B0-ADB5F3BA92A3}" type="datetimeFigureOut">
              <a:rPr lang="en-US" smtClean="0"/>
              <a:t>11/1/2025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AC2EDC-03FB-D147-9BAA-37FCFF988C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8E195D-E935-D746-A5D1-61E2EBF7EF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7D167-9BB5-2048-9DDA-7DF8E5D94D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5121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7A355-8776-CB43-838E-ED9EE2F8390B}" type="datetimeFigureOut">
              <a:rPr lang="en-US" smtClean="0"/>
              <a:t>11/1/2025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03FA8-A3F3-7640-B13D-36C73B3E55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178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03FA8-A3F3-7640-B13D-36C73B3E558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950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CC33A90-B87E-634E-AF2A-F4C3C8923FED}"/>
              </a:ext>
            </a:extLst>
          </p:cNvPr>
          <p:cNvSpPr/>
          <p:nvPr userDrawn="1"/>
        </p:nvSpPr>
        <p:spPr>
          <a:xfrm>
            <a:off x="0" y="914400"/>
            <a:ext cx="12192000" cy="5029200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147E0E-4AE4-D149-A315-F2528623D5EA}"/>
              </a:ext>
            </a:extLst>
          </p:cNvPr>
          <p:cNvSpPr/>
          <p:nvPr userDrawn="1"/>
        </p:nvSpPr>
        <p:spPr>
          <a:xfrm>
            <a:off x="763425" y="2818150"/>
            <a:ext cx="6207001" cy="25718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3ED0903-C4AC-F843-878E-D66CB7BFB0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8430" y="3277472"/>
            <a:ext cx="5651293" cy="1086304"/>
          </a:xfrm>
          <a:prstGeom prst="rect">
            <a:avLst/>
          </a:prstGeom>
        </p:spPr>
        <p:txBody>
          <a:bodyPr lIns="91440" rIns="91440">
            <a:noAutofit/>
          </a:bodyPr>
          <a:lstStyle>
            <a:lvl1pPr algn="l">
              <a:defRPr sz="8800" b="1" i="0" spc="150" baseline="0">
                <a:solidFill>
                  <a:schemeClr val="accent3">
                    <a:lumMod val="90000"/>
                  </a:schemeClr>
                </a:solidFill>
                <a:latin typeface="+mj-lt"/>
                <a:ea typeface="Meiryo UI" panose="020B0604030504040204" pitchFamily="34" charset="-128"/>
              </a:defRPr>
            </a:lvl1pPr>
          </a:lstStyle>
          <a:p>
            <a:r>
              <a:rPr lang="en-US" noProof="0" dirty="0"/>
              <a:t>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8F278E7-697F-D34E-BB55-5D254AF87F9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3125" y="0"/>
            <a:ext cx="6268875" cy="6858000"/>
          </a:xfrm>
          <a:custGeom>
            <a:avLst/>
            <a:gdLst>
              <a:gd name="connsiteX0" fmla="*/ 0 w 6268875"/>
              <a:gd name="connsiteY0" fmla="*/ 0 h 6858000"/>
              <a:gd name="connsiteX1" fmla="*/ 6268875 w 6268875"/>
              <a:gd name="connsiteY1" fmla="*/ 0 h 6858000"/>
              <a:gd name="connsiteX2" fmla="*/ 6268875 w 6268875"/>
              <a:gd name="connsiteY2" fmla="*/ 6858000 h 6858000"/>
              <a:gd name="connsiteX3" fmla="*/ 0 w 6268875"/>
              <a:gd name="connsiteY3" fmla="*/ 6858000 h 6858000"/>
              <a:gd name="connsiteX4" fmla="*/ 0 w 6268875"/>
              <a:gd name="connsiteY4" fmla="*/ 5389964 h 6858000"/>
              <a:gd name="connsiteX5" fmla="*/ 1047301 w 6268875"/>
              <a:gd name="connsiteY5" fmla="*/ 5389964 h 6858000"/>
              <a:gd name="connsiteX6" fmla="*/ 1047301 w 6268875"/>
              <a:gd name="connsiteY6" fmla="*/ 2814404 h 6858000"/>
              <a:gd name="connsiteX7" fmla="*/ 0 w 6268875"/>
              <a:gd name="connsiteY7" fmla="*/ 28144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68875" h="6858000">
                <a:moveTo>
                  <a:pt x="0" y="0"/>
                </a:moveTo>
                <a:lnTo>
                  <a:pt x="6268875" y="0"/>
                </a:lnTo>
                <a:lnTo>
                  <a:pt x="6268875" y="6858000"/>
                </a:lnTo>
                <a:lnTo>
                  <a:pt x="0" y="6858000"/>
                </a:lnTo>
                <a:lnTo>
                  <a:pt x="0" y="5389964"/>
                </a:lnTo>
                <a:lnTo>
                  <a:pt x="1047301" y="5389964"/>
                </a:lnTo>
                <a:lnTo>
                  <a:pt x="1047301" y="2814404"/>
                </a:lnTo>
                <a:lnTo>
                  <a:pt x="0" y="281440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D2629F-DD57-45EB-A64D-AF459A802B6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08430" y="4450080"/>
            <a:ext cx="5651294" cy="607103"/>
          </a:xfrm>
        </p:spPr>
        <p:txBody>
          <a:bodyPr anchor="ctr">
            <a:normAutofit/>
          </a:bodyPr>
          <a:lstStyle>
            <a:lvl1pPr marL="0" indent="0">
              <a:buNone/>
              <a:defRPr sz="2400" b="0" cap="all" spc="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890117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bg2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B59AC0-ACCA-0548-A037-BC61068B8FE2}"/>
              </a:ext>
            </a:extLst>
          </p:cNvPr>
          <p:cNvSpPr/>
          <p:nvPr userDrawn="1"/>
        </p:nvSpPr>
        <p:spPr>
          <a:xfrm>
            <a:off x="0" y="0"/>
            <a:ext cx="12192000" cy="986306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57C152-0331-B74F-81FE-04A927A72C7B}"/>
              </a:ext>
            </a:extLst>
          </p:cNvPr>
          <p:cNvSpPr/>
          <p:nvPr userDrawn="1"/>
        </p:nvSpPr>
        <p:spPr>
          <a:xfrm>
            <a:off x="350520" y="279792"/>
            <a:ext cx="11475720" cy="98630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endParaRPr lang="en-US" sz="2400" b="1" dirty="0">
              <a:latin typeface="+mn-lt"/>
              <a:ea typeface="Meiryo" panose="020B0604030504040204" pitchFamily="34" charset="-128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FDDD9A4-1691-5D47-9605-21650E221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83440"/>
            <a:ext cx="10904438" cy="583800"/>
          </a:xfrm>
          <a:prstGeom prst="rect">
            <a:avLst/>
          </a:prstGeom>
        </p:spPr>
        <p:txBody>
          <a:bodyPr lIns="91440" rIns="91440">
            <a:noAutofit/>
          </a:bodyPr>
          <a:lstStyle>
            <a:lvl1pPr>
              <a:defRPr sz="2400" b="1" i="0" spc="150" baseline="0">
                <a:solidFill>
                  <a:schemeClr val="bg2"/>
                </a:solidFill>
                <a:latin typeface="+mj-lt"/>
                <a:ea typeface="Meiryo UI" panose="020B0604030504040204" pitchFamily="34" charset="-12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AAAAF7-05B9-4CD1-AB96-49BDA5C87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247" y="6356350"/>
            <a:ext cx="751415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63163FE-7A47-48F5-985E-52E1FC39A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1711" y="6356349"/>
            <a:ext cx="532140" cy="365125"/>
          </a:xfrm>
        </p:spPr>
        <p:txBody>
          <a:bodyPr/>
          <a:lstStyle/>
          <a:p>
            <a:fld id="{6F705D35-D126-3B47-A82C-2A13EA9E0A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FDE5BD82-54F0-40F0-8673-34432C04A3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86" y="1470025"/>
            <a:ext cx="10904865" cy="4706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0720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 ">
    <p:bg>
      <p:bgPr>
        <a:solidFill>
          <a:schemeClr val="bg2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7C56A2-F952-8343-A875-78793BA51A34}"/>
              </a:ext>
            </a:extLst>
          </p:cNvPr>
          <p:cNvSpPr/>
          <p:nvPr userDrawn="1"/>
        </p:nvSpPr>
        <p:spPr>
          <a:xfrm>
            <a:off x="0" y="5871694"/>
            <a:ext cx="12192000" cy="986306"/>
          </a:xfrm>
          <a:prstGeom prst="rect">
            <a:avLst/>
          </a:prstGeom>
          <a:pattFill prst="lgGri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BB3689-72F8-2345-BF30-38C81BDD487E}"/>
              </a:ext>
            </a:extLst>
          </p:cNvPr>
          <p:cNvSpPr/>
          <p:nvPr userDrawn="1"/>
        </p:nvSpPr>
        <p:spPr>
          <a:xfrm>
            <a:off x="4921026" y="0"/>
            <a:ext cx="718969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D5A6F-AE17-4E4C-9567-DB3B0285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3659" y="6356350"/>
            <a:ext cx="44909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705D35-D126-3B47-A82C-2A13EA9E0A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56FB1BA-653F-254C-9C39-2A5BDD763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117" y="681037"/>
            <a:ext cx="4791637" cy="583800"/>
          </a:xfrm>
          <a:prstGeom prst="rect">
            <a:avLst/>
          </a:prstGeom>
        </p:spPr>
        <p:txBody>
          <a:bodyPr lIns="91440" rIns="91440">
            <a:noAutofit/>
          </a:bodyPr>
          <a:lstStyle>
            <a:lvl1pPr>
              <a:defRPr sz="2400" b="1" i="0" spc="150" baseline="0">
                <a:solidFill>
                  <a:schemeClr val="bg2"/>
                </a:solidFill>
                <a:latin typeface="+mj-lt"/>
                <a:ea typeface="Meiryo UI" panose="020B0604030504040204" pitchFamily="34" charset="-128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CB2BF900-EE78-604F-A9A8-83394228A6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2925" y="571500"/>
            <a:ext cx="5553075" cy="5715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 altLang="ja-JP" noProof="0"/>
              <a:t>Click icon to add picture</a:t>
            </a:r>
            <a:endParaRPr lang="en-US" altLang="ja-JP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ABA8C-1BE3-46E4-80B3-44A791B60E0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2925" y="6356350"/>
            <a:ext cx="7315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2692E44-7FE3-4F90-97B5-E996A2DCEA8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761117" y="1265238"/>
            <a:ext cx="4791637" cy="4911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6706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2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2F96941-79C9-A34B-8AB5-C167A4D72D51}"/>
              </a:ext>
            </a:extLst>
          </p:cNvPr>
          <p:cNvSpPr/>
          <p:nvPr userDrawn="1"/>
        </p:nvSpPr>
        <p:spPr>
          <a:xfrm>
            <a:off x="0" y="0"/>
            <a:ext cx="12192000" cy="986306"/>
          </a:xfrm>
          <a:prstGeom prst="rect">
            <a:avLst/>
          </a:prstGeom>
          <a:pattFill prst="lgGri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8A28A8-5C75-FC4B-9A28-8F343DF4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D5A6F-AE17-4E4C-9567-DB3B0285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5D35-D126-3B47-A82C-2A13EA9E0A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57C152-0331-B74F-81FE-04A927A72C7B}"/>
              </a:ext>
            </a:extLst>
          </p:cNvPr>
          <p:cNvSpPr/>
          <p:nvPr userDrawn="1"/>
        </p:nvSpPr>
        <p:spPr>
          <a:xfrm>
            <a:off x="350520" y="279792"/>
            <a:ext cx="11475720" cy="98630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endParaRPr lang="en-US" sz="2400" b="1" dirty="0">
              <a:solidFill>
                <a:schemeClr val="bg1"/>
              </a:solidFill>
              <a:latin typeface="+mn-lt"/>
              <a:ea typeface="Meiryo" panose="020B0604030504040204" pitchFamily="34" charset="-128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FDDD9A4-1691-5D47-9605-21650E221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83440"/>
            <a:ext cx="10904438" cy="583800"/>
          </a:xfrm>
          <a:prstGeom prst="rect">
            <a:avLst/>
          </a:prstGeom>
        </p:spPr>
        <p:txBody>
          <a:bodyPr lIns="91440" rIns="91440">
            <a:noAutofit/>
          </a:bodyPr>
          <a:lstStyle>
            <a:lvl1pPr>
              <a:defRPr sz="2400" b="1" i="0" spc="150" baseline="0">
                <a:solidFill>
                  <a:schemeClr val="bg2"/>
                </a:solidFill>
                <a:latin typeface="+mj-lt"/>
                <a:ea typeface="Meiryo UI" panose="020B0604030504040204" pitchFamily="34" charset="-12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F811A9-08B1-C746-B30D-69D7B4A6C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2038570"/>
            <a:ext cx="5042646" cy="703135"/>
          </a:xfrm>
          <a:prstGeom prst="rect">
            <a:avLst/>
          </a:prstGeo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1800" b="1" i="0" cap="all" spc="150" baseline="0">
                <a:solidFill>
                  <a:schemeClr val="accent3">
                    <a:lumMod val="50000"/>
                  </a:schemeClr>
                </a:solidFill>
                <a:latin typeface="+mj-lt"/>
                <a:ea typeface="Meiryo UI" panose="020B0604030504040204" pitchFamily="34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4F0B191-C947-1640-8AD2-EEEAA1ED57C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01205" y="2038570"/>
            <a:ext cx="5042646" cy="703135"/>
          </a:xfrm>
          <a:prstGeom prst="rect">
            <a:avLst/>
          </a:prstGeo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1800" b="1" i="0" cap="all" spc="150" baseline="0">
                <a:solidFill>
                  <a:schemeClr val="accent3">
                    <a:lumMod val="50000"/>
                  </a:schemeClr>
                </a:solidFill>
                <a:latin typeface="+mj-lt"/>
                <a:ea typeface="Meiryo UI" panose="020B0604030504040204" pitchFamily="34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B92D52-6B55-2C4B-95E4-CE89611E590B}"/>
              </a:ext>
            </a:extLst>
          </p:cNvPr>
          <p:cNvCxnSpPr>
            <a:cxnSpLocks/>
          </p:cNvCxnSpPr>
          <p:nvPr userDrawn="1"/>
        </p:nvCxnSpPr>
        <p:spPr>
          <a:xfrm>
            <a:off x="6167716" y="1613647"/>
            <a:ext cx="0" cy="4904068"/>
          </a:xfrm>
          <a:prstGeom prst="line">
            <a:avLst/>
          </a:prstGeom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2E17E1D-5E9C-4782-A550-1FA7C170295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2894471"/>
            <a:ext cx="5041900" cy="309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9AE8FA97-2778-4811-810F-CA386FE3C23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1205" y="2894471"/>
            <a:ext cx="5041900" cy="309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56403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bg>
      <p:bgPr>
        <a:solidFill>
          <a:schemeClr val="bg2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4A22209-F6F4-814A-9719-87CDCD23C55F}"/>
              </a:ext>
            </a:extLst>
          </p:cNvPr>
          <p:cNvSpPr/>
          <p:nvPr userDrawn="1"/>
        </p:nvSpPr>
        <p:spPr>
          <a:xfrm>
            <a:off x="0" y="914400"/>
            <a:ext cx="12192000" cy="5029200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817374-D7A2-2F4D-91C6-E24955F0018B}"/>
              </a:ext>
            </a:extLst>
          </p:cNvPr>
          <p:cNvSpPr/>
          <p:nvPr userDrawn="1"/>
        </p:nvSpPr>
        <p:spPr>
          <a:xfrm>
            <a:off x="5951621" y="1803214"/>
            <a:ext cx="6240379" cy="32528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FBA462-7E60-BA4E-9A1E-3B5E69DACB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CCE73A-EC7C-C74F-BDE1-B9AFE6B3713A}" type="datetimeFigureOut">
              <a:rPr lang="en-US" smtClean="0"/>
              <a:t>11/1/2025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D5A6F-AE17-4E4C-9567-DB3B0285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5D35-D126-3B47-A82C-2A13EA9E0A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56FB1BA-653F-254C-9C39-2A5BDD763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4545" y="2028031"/>
            <a:ext cx="5058209" cy="583800"/>
          </a:xfrm>
          <a:prstGeom prst="rect">
            <a:avLst/>
          </a:prstGeom>
        </p:spPr>
        <p:txBody>
          <a:bodyPr lIns="91440" rIns="91440">
            <a:noAutofit/>
          </a:bodyPr>
          <a:lstStyle>
            <a:lvl1pPr>
              <a:defRPr sz="2400" b="1" i="0" spc="150" baseline="0">
                <a:solidFill>
                  <a:schemeClr val="bg2"/>
                </a:solidFill>
                <a:latin typeface="+mj-lt"/>
                <a:ea typeface="Meiryo UI" panose="020B0604030504040204" pitchFamily="34" charset="-12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AD5E91DA-7D30-8C45-9BE7-5F82AA824B1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2925" y="0"/>
            <a:ext cx="5408696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B3A0EA-D5DD-4E60-90A9-6338842407F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94463" y="2611438"/>
            <a:ext cx="5058209" cy="2165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5007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4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8A28A8-5C75-FC4B-9A28-8F343DF4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D5A6F-AE17-4E4C-9567-DB3B0285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5D35-D126-3B47-A82C-2A13EA9E0A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7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9EAC25-66D1-1245-97FD-3B5840132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069B3-0468-584A-914E-91C8C91C7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A988C-554B-E64F-A698-DE3EF9CA07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157E6-BBF7-AB4A-B5DD-B39A65C17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4706" y="6356350"/>
            <a:ext cx="4490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705D35-D126-3B47-A82C-2A13EA9E0A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565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8" r:id="rId2"/>
    <p:sldLayoutId id="2147483661" r:id="rId3"/>
    <p:sldLayoutId id="2147483690" r:id="rId4"/>
    <p:sldLayoutId id="2147483692" r:id="rId5"/>
    <p:sldLayoutId id="214748365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Meiryo UI" panose="020B0604030504040204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5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§"/>
        <a:defRPr sz="1500" kern="1200" spc="15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§"/>
        <a:defRPr sz="1500" kern="1200" spc="15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§"/>
        <a:defRPr sz="1400" kern="1200" spc="15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§"/>
        <a:defRPr sz="1400" kern="1200" spc="15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§"/>
        <a:defRPr sz="1400" kern="1200" spc="15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ultiples.vc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finance.yahoo.com/quote/OLAELEC.BO/history/" TargetMode="External"/><Relationship Id="rId3" Type="http://schemas.openxmlformats.org/officeDocument/2006/relationships/hyperlink" Target="https://www.motorcyclesdata.com/2025/09/17/taiwan-motorcycles/" TargetMode="External"/><Relationship Id="rId7" Type="http://schemas.openxmlformats.org/officeDocument/2006/relationships/hyperlink" Target="https://in.investing.com/equities/poema-global-holdings-historical-data" TargetMode="External"/><Relationship Id="rId2" Type="http://schemas.openxmlformats.org/officeDocument/2006/relationships/hyperlink" Target="https://www.chittorgarh.com/ipo_subscription/ola-electric-ipo/1765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moneycontrol.com/news/business/ipo/ola-electric-ipo-listing-stock-market-debut-rs-76-per-share-12791549.html" TargetMode="External"/><Relationship Id="rId5" Type="http://schemas.openxmlformats.org/officeDocument/2006/relationships/hyperlink" Target="https://tracxn.com/d/companies/gogoro/__9YODZOD3it8P-_zJ6x7VmFZJunEIClvZCNpcaVZzm90/funding-and-investors" TargetMode="External"/><Relationship Id="rId4" Type="http://schemas.openxmlformats.org/officeDocument/2006/relationships/hyperlink" Target="https://jmkresearch.com/indias-electric-vehicle-sales-crossed-2-million-in-cy2024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OLA IPO">
            <a:extLst>
              <a:ext uri="{FF2B5EF4-FFF2-40B4-BE49-F238E27FC236}">
                <a16:creationId xmlns:a16="http://schemas.microsoft.com/office/drawing/2014/main" id="{8C4E7A8C-B06D-CA32-917F-17F00921D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5820"/>
            <a:ext cx="6095999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86287F1-FB7E-CEB8-C0A6-4BE0E62E9399}"/>
              </a:ext>
            </a:extLst>
          </p:cNvPr>
          <p:cNvSpPr txBox="1"/>
          <p:nvPr/>
        </p:nvSpPr>
        <p:spPr>
          <a:xfrm>
            <a:off x="185057" y="5356707"/>
            <a:ext cx="4659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A COMPARATIVE STUDY ON ASIAN EV MARKET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76D0D2C-C387-9645-EC5D-BFFCE86618F8}"/>
              </a:ext>
            </a:extLst>
          </p:cNvPr>
          <p:cNvSpPr/>
          <p:nvPr/>
        </p:nvSpPr>
        <p:spPr>
          <a:xfrm>
            <a:off x="-1" y="4526528"/>
            <a:ext cx="12192000" cy="166035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5D2EFF-D4E0-36E3-F7BD-44716CB52539}"/>
              </a:ext>
            </a:extLst>
          </p:cNvPr>
          <p:cNvSpPr txBox="1"/>
          <p:nvPr/>
        </p:nvSpPr>
        <p:spPr>
          <a:xfrm>
            <a:off x="722468" y="4845423"/>
            <a:ext cx="1108853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bg1"/>
                </a:solidFill>
              </a:rPr>
              <a:t>IPO ANALYSIS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A COMPARATIVE STUDY OF ASIAN EV COMPANIES: OLA ELECTRIC vs GOGORO INC.</a:t>
            </a:r>
          </a:p>
        </p:txBody>
      </p:sp>
      <p:pic>
        <p:nvPicPr>
          <p:cNvPr id="3084" name="Picture 12" descr="Best Electric Scooter in Nepal for Individuals and Businesses">
            <a:extLst>
              <a:ext uri="{FF2B5EF4-FFF2-40B4-BE49-F238E27FC236}">
                <a16:creationId xmlns:a16="http://schemas.microsoft.com/office/drawing/2014/main" id="{D0046FEC-A9F6-A2CB-60C7-C27EDA3A4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5598" y="455820"/>
            <a:ext cx="6046403" cy="3657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A6FD3DF-7585-0654-B076-058BAF8665D6}"/>
              </a:ext>
            </a:extLst>
          </p:cNvPr>
          <p:cNvSpPr txBox="1"/>
          <p:nvPr/>
        </p:nvSpPr>
        <p:spPr>
          <a:xfrm>
            <a:off x="7648074" y="6361746"/>
            <a:ext cx="416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By Gomathi U – IBFA June 2025</a:t>
            </a:r>
          </a:p>
        </p:txBody>
      </p:sp>
    </p:spTree>
    <p:extLst>
      <p:ext uri="{BB962C8B-B14F-4D97-AF65-F5344CB8AC3E}">
        <p14:creationId xmlns:p14="http://schemas.microsoft.com/office/powerpoint/2010/main" val="3925830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EDD82F-6E6C-7A65-17FE-7623E7E01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0AD603-05B2-4F9A-030F-AE7D490CAEBB}"/>
              </a:ext>
            </a:extLst>
          </p:cNvPr>
          <p:cNvSpPr txBox="1"/>
          <p:nvPr/>
        </p:nvSpPr>
        <p:spPr>
          <a:xfrm>
            <a:off x="4278086" y="0"/>
            <a:ext cx="7913914" cy="92333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rgbClr val="FFFF00"/>
                </a:solidFill>
              </a:rPr>
              <a:t>EV- 2W LANDSCAPE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FC5B82F-009C-EC21-B413-CA854D9A63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1035166"/>
              </p:ext>
            </p:extLst>
          </p:nvPr>
        </p:nvGraphicFramePr>
        <p:xfrm>
          <a:off x="-2" y="4010174"/>
          <a:ext cx="4278088" cy="2847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E9F11D3B-E702-813D-DDBF-9C2889A1D9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7147189"/>
              </p:ext>
            </p:extLst>
          </p:nvPr>
        </p:nvGraphicFramePr>
        <p:xfrm>
          <a:off x="0" y="843097"/>
          <a:ext cx="4278085" cy="30611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82FD76F-4697-5BEB-4970-B4A48BD8D8D8}"/>
              </a:ext>
            </a:extLst>
          </p:cNvPr>
          <p:cNvSpPr txBox="1"/>
          <p:nvPr/>
        </p:nvSpPr>
        <p:spPr>
          <a:xfrm>
            <a:off x="-250044" y="919938"/>
            <a:ext cx="4426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INDIA – EV 2W MARKET </a:t>
            </a:r>
            <a:r>
              <a:rPr lang="en-IN" sz="1400" dirty="0"/>
              <a:t>units sold </a:t>
            </a:r>
          </a:p>
          <a:p>
            <a:pPr algn="ctr"/>
            <a:r>
              <a:rPr lang="en-IN" sz="1400" dirty="0"/>
              <a:t>FY 24-25     (2)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2DF0D4-C063-DED3-3BB6-FC8C28E79DCF}"/>
              </a:ext>
            </a:extLst>
          </p:cNvPr>
          <p:cNvSpPr txBox="1"/>
          <p:nvPr/>
        </p:nvSpPr>
        <p:spPr>
          <a:xfrm>
            <a:off x="0" y="4037362"/>
            <a:ext cx="3387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TAIWAN – 2W MARKET  </a:t>
            </a:r>
            <a:r>
              <a:rPr lang="en-IN" sz="1400" dirty="0"/>
              <a:t>(3)</a:t>
            </a:r>
            <a:endParaRPr lang="en-IN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2EA60E77-4A63-B591-E453-0A23FCFC8B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579949"/>
              </p:ext>
            </p:extLst>
          </p:nvPr>
        </p:nvGraphicFramePr>
        <p:xfrm>
          <a:off x="4752153" y="1173088"/>
          <a:ext cx="6965780" cy="2444556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2171764">
                  <a:extLst>
                    <a:ext uri="{9D8B030D-6E8A-4147-A177-3AD203B41FA5}">
                      <a16:colId xmlns:a16="http://schemas.microsoft.com/office/drawing/2014/main" val="283336919"/>
                    </a:ext>
                  </a:extLst>
                </a:gridCol>
                <a:gridCol w="2671169">
                  <a:extLst>
                    <a:ext uri="{9D8B030D-6E8A-4147-A177-3AD203B41FA5}">
                      <a16:colId xmlns:a16="http://schemas.microsoft.com/office/drawing/2014/main" val="1772284371"/>
                    </a:ext>
                  </a:extLst>
                </a:gridCol>
                <a:gridCol w="2122847">
                  <a:extLst>
                    <a:ext uri="{9D8B030D-6E8A-4147-A177-3AD203B41FA5}">
                      <a16:colId xmlns:a16="http://schemas.microsoft.com/office/drawing/2014/main" val="1199116697"/>
                    </a:ext>
                  </a:extLst>
                </a:gridCol>
              </a:tblGrid>
              <a:tr h="407426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Factors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INDIA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TAIWAN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273113"/>
                  </a:ext>
                </a:extLst>
              </a:tr>
              <a:tr h="407426">
                <a:tc>
                  <a:txBody>
                    <a:bodyPr/>
                    <a:lstStyle/>
                    <a:p>
                      <a:r>
                        <a:rPr lang="en-IN" dirty="0"/>
                        <a:t>Market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USD 1.6Bn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USD 178M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917141"/>
                  </a:ext>
                </a:extLst>
              </a:tr>
              <a:tr h="407426">
                <a:tc>
                  <a:txBody>
                    <a:bodyPr/>
                    <a:lstStyle/>
                    <a:p>
                      <a:r>
                        <a:rPr lang="en-IN" dirty="0"/>
                        <a:t>CAGR - 2033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28.3%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11.3%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013348"/>
                  </a:ext>
                </a:extLst>
              </a:tr>
              <a:tr h="407426">
                <a:tc>
                  <a:txBody>
                    <a:bodyPr/>
                    <a:lstStyle/>
                    <a:p>
                      <a:r>
                        <a:rPr lang="en-IN" dirty="0"/>
                        <a:t>Market maturity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Early </a:t>
                      </a:r>
                      <a:r>
                        <a:rPr lang="en-IN" dirty="0" err="1"/>
                        <a:t>Exponetial</a:t>
                      </a:r>
                      <a:endParaRPr lang="en-IN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Saturated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95302"/>
                  </a:ext>
                </a:extLst>
              </a:tr>
              <a:tr h="407426">
                <a:tc>
                  <a:txBody>
                    <a:bodyPr/>
                    <a:lstStyle/>
                    <a:p>
                      <a:r>
                        <a:rPr lang="en-IN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Domestic + Exports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Domestic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533418"/>
                  </a:ext>
                </a:extLst>
              </a:tr>
              <a:tr h="407426">
                <a:tc>
                  <a:txBody>
                    <a:bodyPr/>
                    <a:lstStyle/>
                    <a:p>
                      <a:r>
                        <a:rPr lang="en-IN" dirty="0"/>
                        <a:t>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1.4Bn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23M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357389"/>
                  </a:ext>
                </a:extLst>
              </a:tr>
            </a:tbl>
          </a:graphicData>
        </a:graphic>
      </p:graphicFrame>
      <p:pic>
        <p:nvPicPr>
          <p:cNvPr id="4098" name="Picture 2">
            <a:extLst>
              <a:ext uri="{FF2B5EF4-FFF2-40B4-BE49-F238E27FC236}">
                <a16:creationId xmlns:a16="http://schemas.microsoft.com/office/drawing/2014/main" id="{8C98A0E5-1929-1B97-27F1-A518E01FB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582" y="4406694"/>
            <a:ext cx="6828351" cy="2137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7280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F1F467-94D5-623E-E8B6-388207124EC5}"/>
              </a:ext>
            </a:extLst>
          </p:cNvPr>
          <p:cNvSpPr txBox="1"/>
          <p:nvPr/>
        </p:nvSpPr>
        <p:spPr>
          <a:xfrm>
            <a:off x="3635829" y="0"/>
            <a:ext cx="8556171" cy="92333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rgbClr val="FFFF00"/>
                </a:solidFill>
              </a:rPr>
              <a:t>COMPANY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A80B2F-5AEA-27BD-6356-045A9E619735}"/>
              </a:ext>
            </a:extLst>
          </p:cNvPr>
          <p:cNvSpPr txBox="1"/>
          <p:nvPr/>
        </p:nvSpPr>
        <p:spPr>
          <a:xfrm>
            <a:off x="238624" y="914627"/>
            <a:ext cx="5857376" cy="25853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numCol="1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Gogoro is </a:t>
            </a:r>
            <a:r>
              <a:rPr lang="en-IN" b="1" dirty="0"/>
              <a:t>US listed </a:t>
            </a:r>
            <a:r>
              <a:rPr lang="en-IN" dirty="0"/>
              <a:t>Taiwanese company engaged in EV 2W and energy storage market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Merged with </a:t>
            </a:r>
            <a:r>
              <a:rPr lang="en-IN" b="1" dirty="0"/>
              <a:t>Poema Global</a:t>
            </a:r>
            <a:r>
              <a:rPr lang="en-IN" dirty="0"/>
              <a:t>, a SPAC company in Cayman islands, in April 2022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First large scale battery swapping network that shed the limelight of EV 2W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Operates over 2,500 </a:t>
            </a:r>
            <a:r>
              <a:rPr lang="en-US" b="1" dirty="0"/>
              <a:t>Go Stations </a:t>
            </a:r>
            <a:r>
              <a:rPr lang="en-US" dirty="0"/>
              <a:t>and 500K+ battery subscribers across Taiwan and expanding into SEA markets.</a:t>
            </a: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9E6A3A4-E471-C71C-4425-4B317F401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815442"/>
              </p:ext>
            </p:extLst>
          </p:nvPr>
        </p:nvGraphicFramePr>
        <p:xfrm>
          <a:off x="6470986" y="1049902"/>
          <a:ext cx="5482390" cy="310896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736185">
                  <a:extLst>
                    <a:ext uri="{9D8B030D-6E8A-4147-A177-3AD203B41FA5}">
                      <a16:colId xmlns:a16="http://schemas.microsoft.com/office/drawing/2014/main" val="618878635"/>
                    </a:ext>
                  </a:extLst>
                </a:gridCol>
                <a:gridCol w="1724264">
                  <a:extLst>
                    <a:ext uri="{9D8B030D-6E8A-4147-A177-3AD203B41FA5}">
                      <a16:colId xmlns:a16="http://schemas.microsoft.com/office/drawing/2014/main" val="985221893"/>
                    </a:ext>
                  </a:extLst>
                </a:gridCol>
                <a:gridCol w="2021941">
                  <a:extLst>
                    <a:ext uri="{9D8B030D-6E8A-4147-A177-3AD203B41FA5}">
                      <a16:colId xmlns:a16="http://schemas.microsoft.com/office/drawing/2014/main" val="1085153137"/>
                    </a:ext>
                  </a:extLst>
                </a:gridCol>
              </a:tblGrid>
              <a:tr h="343138">
                <a:tc>
                  <a:txBody>
                    <a:bodyPr/>
                    <a:lstStyle/>
                    <a:p>
                      <a:r>
                        <a:rPr lang="en-IN" dirty="0"/>
                        <a:t>Particulars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Ola Electric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Gogoro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943999"/>
                  </a:ext>
                </a:extLst>
              </a:tr>
              <a:tr h="343138">
                <a:tc>
                  <a:txBody>
                    <a:bodyPr/>
                    <a:lstStyle/>
                    <a:p>
                      <a:r>
                        <a:rPr lang="en-IN" dirty="0"/>
                        <a:t>Founded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80857"/>
                  </a:ext>
                </a:extLst>
              </a:tr>
              <a:tr h="592266">
                <a:tc>
                  <a:txBody>
                    <a:bodyPr/>
                    <a:lstStyle/>
                    <a:p>
                      <a:r>
                        <a:rPr lang="en-IN" dirty="0"/>
                        <a:t>Founder, CEO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Bhavish Aggarwal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Horace Luke, Matt Taylor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724534"/>
                  </a:ext>
                </a:extLst>
              </a:tr>
              <a:tr h="343138">
                <a:tc>
                  <a:txBody>
                    <a:bodyPr/>
                    <a:lstStyle/>
                    <a:p>
                      <a:r>
                        <a:rPr lang="en-IN" dirty="0"/>
                        <a:t>Market 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$ 2.5Bn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$ 61.7M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524921"/>
                  </a:ext>
                </a:extLst>
              </a:tr>
              <a:tr h="34313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Enterprise</a:t>
                      </a:r>
                      <a:r>
                        <a:rPr lang="en-IN" dirty="0">
                          <a:solidFill>
                            <a:srgbClr val="FCA330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$ 2.5Bn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$ 446M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022242"/>
                  </a:ext>
                </a:extLst>
              </a:tr>
              <a:tr h="343138">
                <a:tc>
                  <a:txBody>
                    <a:bodyPr/>
                    <a:lstStyle/>
                    <a:p>
                      <a:r>
                        <a:rPr lang="en-IN" dirty="0"/>
                        <a:t>P/E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(12.3)x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(0.7)x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033210"/>
                  </a:ext>
                </a:extLst>
              </a:tr>
              <a:tr h="592266">
                <a:tc>
                  <a:txBody>
                    <a:bodyPr/>
                    <a:lstStyle/>
                    <a:p>
                      <a:r>
                        <a:rPr lang="en-IN" dirty="0"/>
                        <a:t>Company’s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30% of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90% of 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468702"/>
                  </a:ext>
                </a:extLst>
              </a:tr>
            </a:tbl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8443D38D-F7B0-00DE-6FEB-E713F57740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2583423"/>
              </p:ext>
            </p:extLst>
          </p:nvPr>
        </p:nvGraphicFramePr>
        <p:xfrm>
          <a:off x="330866" y="3777916"/>
          <a:ext cx="5857376" cy="2911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3B23AED-9805-85C9-EA25-018BFC1B7A30}"/>
              </a:ext>
            </a:extLst>
          </p:cNvPr>
          <p:cNvSpPr txBox="1"/>
          <p:nvPr/>
        </p:nvSpPr>
        <p:spPr>
          <a:xfrm>
            <a:off x="6483014" y="4446123"/>
            <a:ext cx="5482390" cy="2031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Ola Electric Mobility Limited is a pure-EV manufacturer founded as a subsidiary of ANI Technologies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Expanding in India’s EV segment, with launch of Ola Shakti and Motorcycle model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India’s first EV 2W manufacturer to go public</a:t>
            </a:r>
          </a:p>
        </p:txBody>
      </p:sp>
    </p:spTree>
    <p:extLst>
      <p:ext uri="{BB962C8B-B14F-4D97-AF65-F5344CB8AC3E}">
        <p14:creationId xmlns:p14="http://schemas.microsoft.com/office/powerpoint/2010/main" val="1738901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928E6A-7644-6738-56FE-BB2109185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A661E2-D134-0365-B538-97BF4B966FD4}"/>
              </a:ext>
            </a:extLst>
          </p:cNvPr>
          <p:cNvSpPr txBox="1"/>
          <p:nvPr/>
        </p:nvSpPr>
        <p:spPr>
          <a:xfrm>
            <a:off x="6095999" y="0"/>
            <a:ext cx="6096001" cy="92333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rgbClr val="FFFF00"/>
                </a:solidFill>
              </a:rPr>
              <a:t>IPO SNAPSHOT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A9EFDB-AEF4-2FBB-EDFF-BC7296A40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693026"/>
              </p:ext>
            </p:extLst>
          </p:nvPr>
        </p:nvGraphicFramePr>
        <p:xfrm>
          <a:off x="5330848" y="815760"/>
          <a:ext cx="6746853" cy="4447638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2248951">
                  <a:extLst>
                    <a:ext uri="{9D8B030D-6E8A-4147-A177-3AD203B41FA5}">
                      <a16:colId xmlns:a16="http://schemas.microsoft.com/office/drawing/2014/main" val="454987023"/>
                    </a:ext>
                  </a:extLst>
                </a:gridCol>
                <a:gridCol w="2248951">
                  <a:extLst>
                    <a:ext uri="{9D8B030D-6E8A-4147-A177-3AD203B41FA5}">
                      <a16:colId xmlns:a16="http://schemas.microsoft.com/office/drawing/2014/main" val="3207255825"/>
                    </a:ext>
                  </a:extLst>
                </a:gridCol>
                <a:gridCol w="2248951">
                  <a:extLst>
                    <a:ext uri="{9D8B030D-6E8A-4147-A177-3AD203B41FA5}">
                      <a16:colId xmlns:a16="http://schemas.microsoft.com/office/drawing/2014/main" val="1459943526"/>
                    </a:ext>
                  </a:extLst>
                </a:gridCol>
              </a:tblGrid>
              <a:tr h="587744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PARTICULARS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OLA ELECTRIC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GOGORO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07998364"/>
                  </a:ext>
                </a:extLst>
              </a:tr>
              <a:tr h="586698"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YEAR – IPO</a:t>
                      </a:r>
                      <a:br>
                        <a:rPr lang="en-IN" sz="2000" dirty="0">
                          <a:solidFill>
                            <a:schemeClr val="bg1"/>
                          </a:solidFill>
                        </a:rPr>
                      </a:b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EV – 2W launch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2024</a:t>
                      </a:r>
                      <a:br>
                        <a:rPr lang="en-IN" sz="2000" dirty="0">
                          <a:solidFill>
                            <a:schemeClr val="bg1"/>
                          </a:solidFill>
                        </a:rPr>
                      </a:b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2022</a:t>
                      </a:r>
                      <a:br>
                        <a:rPr lang="en-IN" dirty="0"/>
                      </a:b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2015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23246907"/>
                  </a:ext>
                </a:extLst>
              </a:tr>
              <a:tr h="586698">
                <a:tc>
                  <a:txBody>
                    <a:bodyPr/>
                    <a:lstStyle/>
                    <a:p>
                      <a:r>
                        <a:rPr lang="en-IN" dirty="0"/>
                        <a:t>LISTED UNDER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NSE &amp; BSE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NASDAQ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4714274"/>
                  </a:ext>
                </a:extLst>
              </a:tr>
              <a:tr h="643039">
                <a:tc>
                  <a:txBody>
                    <a:bodyPr/>
                    <a:lstStyle/>
                    <a:p>
                      <a:r>
                        <a:rPr lang="en-IN" dirty="0"/>
                        <a:t>ISSUE TYPE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Fresh Issue cum OFS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Under SPAC merger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35727450"/>
                  </a:ext>
                </a:extLst>
              </a:tr>
              <a:tr h="643039">
                <a:tc>
                  <a:txBody>
                    <a:bodyPr/>
                    <a:lstStyle/>
                    <a:p>
                      <a:r>
                        <a:rPr lang="en-IN" dirty="0"/>
                        <a:t>ISSUE PRICE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₹76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</a:t>
                      </a:r>
                      <a:r>
                        <a:rPr lang="en-IN"/>
                        <a:t>$ 10</a:t>
                      </a:r>
                      <a:endParaRPr lang="en-IN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46345522"/>
                  </a:ext>
                </a:extLst>
              </a:tr>
              <a:tr h="643039">
                <a:tc>
                  <a:txBody>
                    <a:bodyPr/>
                    <a:lstStyle/>
                    <a:p>
                      <a:r>
                        <a:rPr lang="en-IN" dirty="0"/>
                        <a:t>ISSUE SIZE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₹6145.56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$345M –SPAC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581685"/>
                  </a:ext>
                </a:extLst>
              </a:tr>
              <a:tr h="643039">
                <a:tc>
                  <a:txBody>
                    <a:bodyPr/>
                    <a:lstStyle/>
                    <a:p>
                      <a:r>
                        <a:rPr lang="en-IN" dirty="0"/>
                        <a:t>LISTING GAINS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10%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6802718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782E9F8-0FD0-6463-2CDD-14FCEFC116F7}"/>
              </a:ext>
            </a:extLst>
          </p:cNvPr>
          <p:cNvSpPr txBox="1"/>
          <p:nvPr/>
        </p:nvSpPr>
        <p:spPr>
          <a:xfrm>
            <a:off x="696686" y="195943"/>
            <a:ext cx="2209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OLA ELECTRIC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6C387-C3A0-9FF1-1394-C050413404C1}"/>
              </a:ext>
            </a:extLst>
          </p:cNvPr>
          <p:cNvSpPr txBox="1"/>
          <p:nvPr/>
        </p:nvSpPr>
        <p:spPr>
          <a:xfrm>
            <a:off x="3668487" y="195943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GOGORO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FF699CD-6769-1E6D-9F43-294717FFF082}"/>
              </a:ext>
            </a:extLst>
          </p:cNvPr>
          <p:cNvCxnSpPr/>
          <p:nvPr/>
        </p:nvCxnSpPr>
        <p:spPr>
          <a:xfrm>
            <a:off x="206829" y="337456"/>
            <a:ext cx="337457" cy="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1BE9B5C-1B54-FF87-087E-903D2832575C}"/>
              </a:ext>
            </a:extLst>
          </p:cNvPr>
          <p:cNvCxnSpPr/>
          <p:nvPr/>
        </p:nvCxnSpPr>
        <p:spPr>
          <a:xfrm>
            <a:off x="3080658" y="326571"/>
            <a:ext cx="33745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1958C46-472D-F0FA-B12C-B95D13EBFF13}"/>
              </a:ext>
            </a:extLst>
          </p:cNvPr>
          <p:cNvSpPr txBox="1"/>
          <p:nvPr/>
        </p:nvSpPr>
        <p:spPr>
          <a:xfrm>
            <a:off x="5704114" y="5214257"/>
            <a:ext cx="64878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 expand cell manufacturing capacity, support R&amp;D at Giga factory in </a:t>
            </a:r>
            <a:r>
              <a:rPr lang="en-US" dirty="0" err="1">
                <a:solidFill>
                  <a:schemeClr val="bg1"/>
                </a:solidFill>
              </a:rPr>
              <a:t>Krishnagiri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Tamilnadu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To expand operations in China, India, SEA and support R&amp;D for battery swapping network. 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572A037-6B56-9AA0-C65C-A0AAD3DD2F45}"/>
              </a:ext>
            </a:extLst>
          </p:cNvPr>
          <p:cNvCxnSpPr/>
          <p:nvPr/>
        </p:nvCxnSpPr>
        <p:spPr>
          <a:xfrm>
            <a:off x="5344887" y="5355770"/>
            <a:ext cx="337457" cy="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B50F6DB-1E58-DCAA-EA6F-F2CB18124C69}"/>
              </a:ext>
            </a:extLst>
          </p:cNvPr>
          <p:cNvCxnSpPr/>
          <p:nvPr/>
        </p:nvCxnSpPr>
        <p:spPr>
          <a:xfrm>
            <a:off x="5344887" y="5932713"/>
            <a:ext cx="33745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43CDE1C7-CE66-488C-B55E-5BD8709D21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2884666"/>
              </p:ext>
            </p:extLst>
          </p:nvPr>
        </p:nvGraphicFramePr>
        <p:xfrm>
          <a:off x="544286" y="752323"/>
          <a:ext cx="4572001" cy="3286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4787E7A-509B-2BA7-A88F-FA30BA0D32B3}"/>
              </a:ext>
            </a:extLst>
          </p:cNvPr>
          <p:cNvSpPr txBox="1"/>
          <p:nvPr/>
        </p:nvSpPr>
        <p:spPr>
          <a:xfrm>
            <a:off x="114299" y="4225646"/>
            <a:ext cx="2340429" cy="1015663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IN" sz="2000" dirty="0"/>
              <a:t>Subscribed 4.45x in retail &amp; 5.5x in institutional </a:t>
            </a:r>
            <a:r>
              <a:rPr lang="en-IN" sz="1400" dirty="0"/>
              <a:t>(1)</a:t>
            </a:r>
            <a:endParaRPr lang="en-IN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E3BA7A-F412-A422-5E74-B1B1D9E3E6DE}"/>
              </a:ext>
            </a:extLst>
          </p:cNvPr>
          <p:cNvSpPr txBox="1"/>
          <p:nvPr/>
        </p:nvSpPr>
        <p:spPr>
          <a:xfrm>
            <a:off x="68034" y="5443957"/>
            <a:ext cx="2340429" cy="132343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IN" sz="2000" dirty="0"/>
              <a:t>Fixed Valuation through SPAC deal – no retail price discovery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94F1AA-1FFD-41EF-BA4F-84172F459E75}"/>
              </a:ext>
            </a:extLst>
          </p:cNvPr>
          <p:cNvSpPr txBox="1"/>
          <p:nvPr/>
        </p:nvSpPr>
        <p:spPr>
          <a:xfrm>
            <a:off x="2593951" y="4733477"/>
            <a:ext cx="2340429" cy="132343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IN" sz="2000" dirty="0"/>
              <a:t>In Oct 2023, Raised Funding to set up Ola Gigafactory</a:t>
            </a:r>
          </a:p>
        </p:txBody>
      </p:sp>
    </p:spTree>
    <p:extLst>
      <p:ext uri="{BB962C8B-B14F-4D97-AF65-F5344CB8AC3E}">
        <p14:creationId xmlns:p14="http://schemas.microsoft.com/office/powerpoint/2010/main" val="3756526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F8A4B2-46B6-0529-36A4-547AB89D4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3AF89B-2985-7232-F236-AF08A0D14B65}"/>
              </a:ext>
            </a:extLst>
          </p:cNvPr>
          <p:cNvSpPr txBox="1"/>
          <p:nvPr/>
        </p:nvSpPr>
        <p:spPr>
          <a:xfrm>
            <a:off x="7543799" y="0"/>
            <a:ext cx="4648201" cy="92333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rgbClr val="FFFF00"/>
                </a:solidFill>
              </a:rPr>
              <a:t>VALUATION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9D06F61-8C59-CBA2-7EC3-12A54169F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016346"/>
              </p:ext>
            </p:extLst>
          </p:nvPr>
        </p:nvGraphicFramePr>
        <p:xfrm>
          <a:off x="179615" y="1380267"/>
          <a:ext cx="5655128" cy="3044892"/>
        </p:xfrm>
        <a:graphic>
          <a:graphicData uri="http://schemas.openxmlformats.org/drawingml/2006/table">
            <a:tbl>
              <a:tblPr firstRow="1" bandRow="1">
                <a:tableStyleId>{8FD4443E-F989-4FC4-A0C8-D5A2AF1F390B}</a:tableStyleId>
              </a:tblPr>
              <a:tblGrid>
                <a:gridCol w="2521079">
                  <a:extLst>
                    <a:ext uri="{9D8B030D-6E8A-4147-A177-3AD203B41FA5}">
                      <a16:colId xmlns:a16="http://schemas.microsoft.com/office/drawing/2014/main" val="1166998117"/>
                    </a:ext>
                  </a:extLst>
                </a:gridCol>
                <a:gridCol w="3134049">
                  <a:extLst>
                    <a:ext uri="{9D8B030D-6E8A-4147-A177-3AD203B41FA5}">
                      <a16:colId xmlns:a16="http://schemas.microsoft.com/office/drawing/2014/main" val="3051908431"/>
                    </a:ext>
                  </a:extLst>
                </a:gridCol>
              </a:tblGrid>
              <a:tr h="507482">
                <a:tc>
                  <a:txBody>
                    <a:bodyPr/>
                    <a:lstStyle/>
                    <a:p>
                      <a:r>
                        <a:rPr lang="en-IN" dirty="0"/>
                        <a:t>BASIS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PRICE PER EQ SHARE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058902"/>
                  </a:ext>
                </a:extLst>
              </a:tr>
              <a:tr h="507482">
                <a:tc>
                  <a:txBody>
                    <a:bodyPr/>
                    <a:lstStyle/>
                    <a:p>
                      <a:r>
                        <a:rPr lang="en-IN" dirty="0"/>
                        <a:t>WACA – Primary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₹47.00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191395"/>
                  </a:ext>
                </a:extLst>
              </a:tr>
              <a:tr h="507482">
                <a:tc>
                  <a:txBody>
                    <a:bodyPr/>
                    <a:lstStyle/>
                    <a:p>
                      <a:r>
                        <a:rPr lang="en-IN" dirty="0"/>
                        <a:t>WACA – Secondary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₹87.83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193021"/>
                  </a:ext>
                </a:extLst>
              </a:tr>
              <a:tr h="507482">
                <a:tc>
                  <a:txBody>
                    <a:bodyPr/>
                    <a:lstStyle/>
                    <a:p>
                      <a:r>
                        <a:rPr lang="en-IN" dirty="0"/>
                        <a:t>Price Band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₹72 - ₹76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017375"/>
                  </a:ext>
                </a:extLst>
              </a:tr>
              <a:tr h="507482">
                <a:tc>
                  <a:txBody>
                    <a:bodyPr/>
                    <a:lstStyle/>
                    <a:p>
                      <a:r>
                        <a:rPr lang="en-IN" dirty="0"/>
                        <a:t>Cap price Multiple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1.62  (76/47)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362522"/>
                  </a:ext>
                </a:extLst>
              </a:tr>
              <a:tr h="507482">
                <a:tc>
                  <a:txBody>
                    <a:bodyPr/>
                    <a:lstStyle/>
                    <a:p>
                      <a:r>
                        <a:rPr lang="en-IN" dirty="0"/>
                        <a:t>Listed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₹76   (47*1.62)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196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E81F8A6-CDF8-4290-02FD-E4E04F76449D}"/>
              </a:ext>
            </a:extLst>
          </p:cNvPr>
          <p:cNvSpPr txBox="1"/>
          <p:nvPr/>
        </p:nvSpPr>
        <p:spPr>
          <a:xfrm>
            <a:off x="386443" y="185057"/>
            <a:ext cx="5448300" cy="461665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Ola Valuation basis : Book Building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45D9AB9-9031-D7B6-D16A-2A5776B3E1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988961"/>
              </p:ext>
            </p:extLst>
          </p:nvPr>
        </p:nvGraphicFramePr>
        <p:xfrm>
          <a:off x="6228650" y="2189746"/>
          <a:ext cx="5655126" cy="210061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490662">
                  <a:extLst>
                    <a:ext uri="{9D8B030D-6E8A-4147-A177-3AD203B41FA5}">
                      <a16:colId xmlns:a16="http://schemas.microsoft.com/office/drawing/2014/main" val="2112617281"/>
                    </a:ext>
                  </a:extLst>
                </a:gridCol>
                <a:gridCol w="1297566">
                  <a:extLst>
                    <a:ext uri="{9D8B030D-6E8A-4147-A177-3AD203B41FA5}">
                      <a16:colId xmlns:a16="http://schemas.microsoft.com/office/drawing/2014/main" val="1434777789"/>
                    </a:ext>
                  </a:extLst>
                </a:gridCol>
                <a:gridCol w="1866898">
                  <a:extLst>
                    <a:ext uri="{9D8B030D-6E8A-4147-A177-3AD203B41FA5}">
                      <a16:colId xmlns:a16="http://schemas.microsoft.com/office/drawing/2014/main" val="2158749902"/>
                    </a:ext>
                  </a:extLst>
                </a:gridCol>
              </a:tblGrid>
              <a:tr h="420123">
                <a:tc>
                  <a:txBody>
                    <a:bodyPr/>
                    <a:lstStyle/>
                    <a:p>
                      <a:r>
                        <a:rPr lang="en-IN" dirty="0"/>
                        <a:t>PEER LISTED CO.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EV/ REV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EV / EBITDA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18354358"/>
                  </a:ext>
                </a:extLst>
              </a:tr>
              <a:tr h="420123">
                <a:tc>
                  <a:txBody>
                    <a:bodyPr/>
                    <a:lstStyle/>
                    <a:p>
                      <a:r>
                        <a:rPr lang="en-IN" dirty="0"/>
                        <a:t>TVS MOTORS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3.52x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24.58x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03983789"/>
                  </a:ext>
                </a:extLst>
              </a:tr>
              <a:tr h="420123">
                <a:tc>
                  <a:txBody>
                    <a:bodyPr/>
                    <a:lstStyle/>
                    <a:p>
                      <a:r>
                        <a:rPr lang="en-IN" dirty="0"/>
                        <a:t>EICHER MOTORS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7.83x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22.14x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41369369"/>
                  </a:ext>
                </a:extLst>
              </a:tr>
              <a:tr h="420123">
                <a:tc>
                  <a:txBody>
                    <a:bodyPr/>
                    <a:lstStyle/>
                    <a:p>
                      <a:r>
                        <a:rPr lang="en-IN" dirty="0"/>
                        <a:t>BAJAJ AUTO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5.92x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25.39x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19471083"/>
                  </a:ext>
                </a:extLst>
              </a:tr>
              <a:tr h="420123">
                <a:tc>
                  <a:txBody>
                    <a:bodyPr/>
                    <a:lstStyle/>
                    <a:p>
                      <a:r>
                        <a:rPr lang="en-IN" dirty="0"/>
                        <a:t>HERO MOTOR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2.84x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17.62x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714491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B62FAFE-A210-5EEB-2741-F370BCB43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968230"/>
              </p:ext>
            </p:extLst>
          </p:nvPr>
        </p:nvGraphicFramePr>
        <p:xfrm>
          <a:off x="6228648" y="1617703"/>
          <a:ext cx="5655127" cy="51162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490663">
                  <a:extLst>
                    <a:ext uri="{9D8B030D-6E8A-4147-A177-3AD203B41FA5}">
                      <a16:colId xmlns:a16="http://schemas.microsoft.com/office/drawing/2014/main" val="2733199740"/>
                    </a:ext>
                  </a:extLst>
                </a:gridCol>
                <a:gridCol w="1290963">
                  <a:extLst>
                    <a:ext uri="{9D8B030D-6E8A-4147-A177-3AD203B41FA5}">
                      <a16:colId xmlns:a16="http://schemas.microsoft.com/office/drawing/2014/main" val="3478255768"/>
                    </a:ext>
                  </a:extLst>
                </a:gridCol>
                <a:gridCol w="1873501">
                  <a:extLst>
                    <a:ext uri="{9D8B030D-6E8A-4147-A177-3AD203B41FA5}">
                      <a16:colId xmlns:a16="http://schemas.microsoft.com/office/drawing/2014/main" val="2384350351"/>
                    </a:ext>
                  </a:extLst>
                </a:gridCol>
              </a:tblGrid>
              <a:tr h="511628">
                <a:tc>
                  <a:txBody>
                    <a:bodyPr/>
                    <a:lstStyle/>
                    <a:p>
                      <a:r>
                        <a:rPr lang="en-IN" dirty="0"/>
                        <a:t>OLA</a:t>
                      </a:r>
                    </a:p>
                  </a:txBody>
                  <a:tcPr>
                    <a:solidFill>
                      <a:schemeClr val="accent6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6.11x</a:t>
                      </a:r>
                    </a:p>
                  </a:txBody>
                  <a:tcPr>
                    <a:solidFill>
                      <a:schemeClr val="accent6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(30.84)x</a:t>
                      </a:r>
                    </a:p>
                  </a:txBody>
                  <a:tcPr>
                    <a:solidFill>
                      <a:schemeClr val="accent6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58836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575E011-942E-AFA0-F803-336554287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520725"/>
              </p:ext>
            </p:extLst>
          </p:nvPr>
        </p:nvGraphicFramePr>
        <p:xfrm>
          <a:off x="0" y="4627859"/>
          <a:ext cx="7416800" cy="223083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3285958">
                  <a:extLst>
                    <a:ext uri="{9D8B030D-6E8A-4147-A177-3AD203B41FA5}">
                      <a16:colId xmlns:a16="http://schemas.microsoft.com/office/drawing/2014/main" val="2883441924"/>
                    </a:ext>
                  </a:extLst>
                </a:gridCol>
                <a:gridCol w="4130842">
                  <a:extLst>
                    <a:ext uri="{9D8B030D-6E8A-4147-A177-3AD203B41FA5}">
                      <a16:colId xmlns:a16="http://schemas.microsoft.com/office/drawing/2014/main" val="4179438148"/>
                    </a:ext>
                  </a:extLst>
                </a:gridCol>
              </a:tblGrid>
              <a:tr h="409774">
                <a:tc>
                  <a:txBody>
                    <a:bodyPr/>
                    <a:lstStyle/>
                    <a:p>
                      <a:r>
                        <a:rPr lang="en-IN" dirty="0"/>
                        <a:t>GOGORO’S VALUATION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434664"/>
                  </a:ext>
                </a:extLst>
              </a:tr>
              <a:tr h="409774">
                <a:tc>
                  <a:txBody>
                    <a:bodyPr/>
                    <a:lstStyle/>
                    <a:p>
                      <a:r>
                        <a:rPr lang="en-IN" dirty="0"/>
                        <a:t>Pre-IPO valuation (sept 22)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USD 2.3 Bn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060184"/>
                  </a:ext>
                </a:extLst>
              </a:tr>
              <a:tr h="409774">
                <a:tc>
                  <a:txBody>
                    <a:bodyPr/>
                    <a:lstStyle/>
                    <a:p>
                      <a:r>
                        <a:rPr lang="en-IN" dirty="0"/>
                        <a:t>Valuation basis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Forward Revenue Projection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466030"/>
                  </a:ext>
                </a:extLst>
              </a:tr>
              <a:tr h="591743">
                <a:tc>
                  <a:txBody>
                    <a:bodyPr/>
                    <a:lstStyle/>
                    <a:p>
                      <a:r>
                        <a:rPr lang="en-IN" dirty="0"/>
                        <a:t>Valuation concern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Overvaluation (negate fin. metrics)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8239333"/>
                  </a:ext>
                </a:extLst>
              </a:tr>
              <a:tr h="409774">
                <a:tc>
                  <a:txBody>
                    <a:bodyPr/>
                    <a:lstStyle/>
                    <a:p>
                      <a:r>
                        <a:rPr lang="en-IN" dirty="0"/>
                        <a:t>P/E ratio 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(0.7)x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56497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81F1DEB-D8D6-1291-C8F0-03CF4C8398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731347"/>
              </p:ext>
            </p:extLst>
          </p:nvPr>
        </p:nvGraphicFramePr>
        <p:xfrm>
          <a:off x="7793493" y="4748519"/>
          <a:ext cx="4090281" cy="51162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695933">
                  <a:extLst>
                    <a:ext uri="{9D8B030D-6E8A-4147-A177-3AD203B41FA5}">
                      <a16:colId xmlns:a16="http://schemas.microsoft.com/office/drawing/2014/main" val="2733199740"/>
                    </a:ext>
                  </a:extLst>
                </a:gridCol>
                <a:gridCol w="1394348">
                  <a:extLst>
                    <a:ext uri="{9D8B030D-6E8A-4147-A177-3AD203B41FA5}">
                      <a16:colId xmlns:a16="http://schemas.microsoft.com/office/drawing/2014/main" val="3478255768"/>
                    </a:ext>
                  </a:extLst>
                </a:gridCol>
              </a:tblGrid>
              <a:tr h="511628">
                <a:tc>
                  <a:txBody>
                    <a:bodyPr/>
                    <a:lstStyle/>
                    <a:p>
                      <a:r>
                        <a:rPr lang="en-IN" dirty="0"/>
                        <a:t>GOGORO</a:t>
                      </a:r>
                    </a:p>
                  </a:txBody>
                  <a:tcPr>
                    <a:solidFill>
                      <a:schemeClr val="accent6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1.15x</a:t>
                      </a:r>
                    </a:p>
                  </a:txBody>
                  <a:tcPr>
                    <a:solidFill>
                      <a:schemeClr val="accent6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58836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7E23422-2358-0BC6-4DA1-9346833B22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279317"/>
              </p:ext>
            </p:extLst>
          </p:nvPr>
        </p:nvGraphicFramePr>
        <p:xfrm>
          <a:off x="862411" y="719757"/>
          <a:ext cx="4289536" cy="409774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400578">
                  <a:extLst>
                    <a:ext uri="{9D8B030D-6E8A-4147-A177-3AD203B41FA5}">
                      <a16:colId xmlns:a16="http://schemas.microsoft.com/office/drawing/2014/main" val="3397408421"/>
                    </a:ext>
                  </a:extLst>
                </a:gridCol>
                <a:gridCol w="1888958">
                  <a:extLst>
                    <a:ext uri="{9D8B030D-6E8A-4147-A177-3AD203B41FA5}">
                      <a16:colId xmlns:a16="http://schemas.microsoft.com/office/drawing/2014/main" val="2749299467"/>
                    </a:ext>
                  </a:extLst>
                </a:gridCol>
              </a:tblGrid>
              <a:tr h="409774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Valued at IPO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 USD 4 Bn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77343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0EA7F9D-B057-95DE-99AA-4BA1300FE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349444"/>
              </p:ext>
            </p:extLst>
          </p:nvPr>
        </p:nvGraphicFramePr>
        <p:xfrm>
          <a:off x="7793494" y="5414503"/>
          <a:ext cx="4090281" cy="1260369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689254">
                  <a:extLst>
                    <a:ext uri="{9D8B030D-6E8A-4147-A177-3AD203B41FA5}">
                      <a16:colId xmlns:a16="http://schemas.microsoft.com/office/drawing/2014/main" val="1717514650"/>
                    </a:ext>
                  </a:extLst>
                </a:gridCol>
                <a:gridCol w="1401027">
                  <a:extLst>
                    <a:ext uri="{9D8B030D-6E8A-4147-A177-3AD203B41FA5}">
                      <a16:colId xmlns:a16="http://schemas.microsoft.com/office/drawing/2014/main" val="3116790135"/>
                    </a:ext>
                  </a:extLst>
                </a:gridCol>
              </a:tblGrid>
              <a:tr h="420123">
                <a:tc>
                  <a:txBody>
                    <a:bodyPr/>
                    <a:lstStyle/>
                    <a:p>
                      <a:r>
                        <a:rPr lang="en-IN" dirty="0"/>
                        <a:t>PEER LISTED CO. 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EV/ REV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0474803"/>
                  </a:ext>
                </a:extLst>
              </a:tr>
              <a:tr h="420123">
                <a:tc>
                  <a:txBody>
                    <a:bodyPr/>
                    <a:lstStyle/>
                    <a:p>
                      <a:r>
                        <a:rPr lang="en-IN" dirty="0"/>
                        <a:t>NIU TECHNOLOGIES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1.74x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683705"/>
                  </a:ext>
                </a:extLst>
              </a:tr>
              <a:tr h="420123">
                <a:tc>
                  <a:txBody>
                    <a:bodyPr/>
                    <a:lstStyle/>
                    <a:p>
                      <a:r>
                        <a:rPr lang="en-IN" dirty="0"/>
                        <a:t>YADEA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0.98x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252284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99DD887-A993-F048-38F0-D8CDE8A3363B}"/>
              </a:ext>
            </a:extLst>
          </p:cNvPr>
          <p:cNvSpPr txBox="1"/>
          <p:nvPr/>
        </p:nvSpPr>
        <p:spPr>
          <a:xfrm>
            <a:off x="7828848" y="1165591"/>
            <a:ext cx="3565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Financial Multiples</a:t>
            </a:r>
          </a:p>
        </p:txBody>
      </p:sp>
    </p:spTree>
    <p:extLst>
      <p:ext uri="{BB962C8B-B14F-4D97-AF65-F5344CB8AC3E}">
        <p14:creationId xmlns:p14="http://schemas.microsoft.com/office/powerpoint/2010/main" val="3335056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B04F47-8E44-2920-AF1D-D6A222480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24626F-963C-2C65-D75F-E53D630E6090}"/>
              </a:ext>
            </a:extLst>
          </p:cNvPr>
          <p:cNvSpPr txBox="1"/>
          <p:nvPr/>
        </p:nvSpPr>
        <p:spPr>
          <a:xfrm>
            <a:off x="2220686" y="0"/>
            <a:ext cx="9971314" cy="92333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rgbClr val="FFFF00"/>
                </a:solidFill>
              </a:rPr>
              <a:t>POST –IPO PERFORMANCE</a:t>
            </a:r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85702E2D-53E8-840F-7B52-52BF10F334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9798504"/>
              </p:ext>
            </p:extLst>
          </p:nvPr>
        </p:nvGraphicFramePr>
        <p:xfrm>
          <a:off x="-16329" y="1477018"/>
          <a:ext cx="5425064" cy="39247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EDBD0A5E-24C9-7B89-1E63-3B33962110A2}"/>
              </a:ext>
            </a:extLst>
          </p:cNvPr>
          <p:cNvSpPr txBox="1"/>
          <p:nvPr/>
        </p:nvSpPr>
        <p:spPr>
          <a:xfrm>
            <a:off x="4797777" y="6448417"/>
            <a:ext cx="2077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Jan 11-2024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68D95A-7200-8509-AED7-8B6E87F832B3}"/>
              </a:ext>
            </a:extLst>
          </p:cNvPr>
          <p:cNvSpPr txBox="1"/>
          <p:nvPr/>
        </p:nvSpPr>
        <p:spPr>
          <a:xfrm>
            <a:off x="5408735" y="1631216"/>
            <a:ext cx="655065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Ola Electric’s share price has shown signs of </a:t>
            </a:r>
            <a:r>
              <a:rPr lang="en-US" sz="2000" dirty="0">
                <a:solidFill>
                  <a:srgbClr val="FF0000"/>
                </a:solidFill>
              </a:rPr>
              <a:t>stabilization</a:t>
            </a:r>
            <a:r>
              <a:rPr lang="en-US" sz="2000" dirty="0">
                <a:solidFill>
                  <a:schemeClr val="bg1"/>
                </a:solidFill>
              </a:rPr>
              <a:t> post-IPO despite subsidy cuts in April 2025.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Is investing in in-house manufacturing to control its supply chain and drive down costs.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Entered into </a:t>
            </a:r>
            <a:r>
              <a:rPr lang="en-IN" sz="2000" dirty="0">
                <a:solidFill>
                  <a:srgbClr val="FF0000"/>
                </a:solidFill>
              </a:rPr>
              <a:t>energy storage market </a:t>
            </a:r>
            <a:r>
              <a:rPr lang="en-IN" sz="2000" dirty="0">
                <a:solidFill>
                  <a:schemeClr val="bg1"/>
                </a:solidFill>
              </a:rPr>
              <a:t>in 2025 with OLA SHAKTHI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The company’s effort in developing own Bharat Cells for batteries and ferrite motors - </a:t>
            </a:r>
            <a:r>
              <a:rPr lang="en-US" sz="2000" dirty="0">
                <a:solidFill>
                  <a:srgbClr val="FF0000"/>
                </a:solidFill>
              </a:rPr>
              <a:t>rare-earth free motors </a:t>
            </a:r>
            <a:r>
              <a:rPr lang="en-US" sz="2000" dirty="0">
                <a:solidFill>
                  <a:schemeClr val="bg1"/>
                </a:solidFill>
              </a:rPr>
              <a:t>can restore investor sentiment. </a:t>
            </a:r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2BE5A-577D-FE60-A412-9D1A1CB68B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3520"/>
          <a:stretch>
            <a:fillRect/>
          </a:stretch>
        </p:blipFill>
        <p:spPr>
          <a:xfrm>
            <a:off x="7298584" y="5619722"/>
            <a:ext cx="4893416" cy="12382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44F4EE-4FED-9624-960E-0B1D0928DAAD}"/>
              </a:ext>
            </a:extLst>
          </p:cNvPr>
          <p:cNvSpPr txBox="1"/>
          <p:nvPr/>
        </p:nvSpPr>
        <p:spPr>
          <a:xfrm>
            <a:off x="10937746" y="5352249"/>
            <a:ext cx="12542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Sept 6 2024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B4C26E-8B01-3C32-1750-F489FABE0F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0775"/>
          <a:stretch>
            <a:fillRect/>
          </a:stretch>
        </p:blipFill>
        <p:spPr>
          <a:xfrm>
            <a:off x="196087" y="5844352"/>
            <a:ext cx="6825342" cy="9060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D6568D-40C9-3050-E91B-2B7D022B451C}"/>
              </a:ext>
            </a:extLst>
          </p:cNvPr>
          <p:cNvSpPr txBox="1"/>
          <p:nvPr/>
        </p:nvSpPr>
        <p:spPr>
          <a:xfrm>
            <a:off x="9358100" y="1039930"/>
            <a:ext cx="3159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FF00"/>
                </a:solidFill>
              </a:rPr>
              <a:t>OLA ELECTRIC</a:t>
            </a:r>
          </a:p>
        </p:txBody>
      </p:sp>
    </p:spTree>
    <p:extLst>
      <p:ext uri="{BB962C8B-B14F-4D97-AF65-F5344CB8AC3E}">
        <p14:creationId xmlns:p14="http://schemas.microsoft.com/office/powerpoint/2010/main" val="3541836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910AD-9100-07D0-A0C3-1FF0371CF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7F40DC-AEEA-F381-0A8E-F94699FF90D2}"/>
              </a:ext>
            </a:extLst>
          </p:cNvPr>
          <p:cNvSpPr txBox="1"/>
          <p:nvPr/>
        </p:nvSpPr>
        <p:spPr>
          <a:xfrm>
            <a:off x="2220686" y="0"/>
            <a:ext cx="9971314" cy="92333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rgbClr val="FFFF00"/>
                </a:solidFill>
              </a:rPr>
              <a:t>POST –IPO PERFORMANCE</a:t>
            </a:r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2C83932A-81E2-0352-5C0A-E3E74995F2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2515796"/>
              </p:ext>
            </p:extLst>
          </p:nvPr>
        </p:nvGraphicFramePr>
        <p:xfrm>
          <a:off x="133385" y="1007538"/>
          <a:ext cx="5501421" cy="37986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C88DE531-3D2D-4431-CC28-96CDA3B2B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336" y="2676825"/>
            <a:ext cx="5650864" cy="68589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2AD323E-56B0-CDE8-13C2-F0F00E08BB2C}"/>
              </a:ext>
            </a:extLst>
          </p:cNvPr>
          <p:cNvSpPr txBox="1"/>
          <p:nvPr/>
        </p:nvSpPr>
        <p:spPr>
          <a:xfrm>
            <a:off x="4797777" y="6448417"/>
            <a:ext cx="2077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Jan 11-2024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C1B6E1-8652-E8AF-78BC-F57F64439783}"/>
              </a:ext>
            </a:extLst>
          </p:cNvPr>
          <p:cNvSpPr txBox="1"/>
          <p:nvPr/>
        </p:nvSpPr>
        <p:spPr>
          <a:xfrm>
            <a:off x="133385" y="5032645"/>
            <a:ext cx="5582653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Investors of Gogoro turned risk averse due to 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Capital intensive expansion plans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Slowing domestic demand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dirty="0"/>
              <a:t>The company had technological strength but the execution risk kept investors cautious.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42F0D9-4909-6EDC-7F0C-CE7D3F037253}"/>
              </a:ext>
            </a:extLst>
          </p:cNvPr>
          <p:cNvSpPr txBox="1"/>
          <p:nvPr/>
        </p:nvSpPr>
        <p:spPr>
          <a:xfrm>
            <a:off x="5835316" y="1680094"/>
            <a:ext cx="635668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Gogoro has shown declining trend since the IPO listing. Various reasons being: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 the news about Gachaco, Inc.,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bg1"/>
              </a:solidFill>
            </a:endParaRPr>
          </a:p>
          <a:p>
            <a:endParaRPr lang="en-IN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 Lending of swapping networks to market rivals,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 JP Morgan gave the stock an </a:t>
            </a:r>
            <a:r>
              <a:rPr lang="en-IN" sz="2000" dirty="0">
                <a:solidFill>
                  <a:srgbClr val="FF0000"/>
                </a:solidFill>
              </a:rPr>
              <a:t>underweight rating </a:t>
            </a:r>
            <a:r>
              <a:rPr lang="en-IN" sz="2000" dirty="0">
                <a:solidFill>
                  <a:schemeClr val="bg1"/>
                </a:solidFill>
              </a:rPr>
              <a:t>since the scooter sales in Taiwan is declining year by year. </a:t>
            </a:r>
          </a:p>
          <a:p>
            <a:endParaRPr lang="en-IN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NASDAQ’s notice on delisting the stock if the share price didn’t rise above $1 in next 180 days.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132531-BBE4-578E-225D-7F3A6129FF46}"/>
              </a:ext>
            </a:extLst>
          </p:cNvPr>
          <p:cNvSpPr txBox="1"/>
          <p:nvPr/>
        </p:nvSpPr>
        <p:spPr>
          <a:xfrm>
            <a:off x="9543970" y="1007538"/>
            <a:ext cx="2843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FF00"/>
                </a:solidFill>
              </a:rPr>
              <a:t>GOGORO INC</a:t>
            </a:r>
          </a:p>
        </p:txBody>
      </p:sp>
    </p:spTree>
    <p:extLst>
      <p:ext uri="{BB962C8B-B14F-4D97-AF65-F5344CB8AC3E}">
        <p14:creationId xmlns:p14="http://schemas.microsoft.com/office/powerpoint/2010/main" val="3138244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EDD4A4-21CC-B4A7-E044-F7863F4A4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4E04E5-CC98-BBC8-87D3-A36AAA459764}"/>
              </a:ext>
            </a:extLst>
          </p:cNvPr>
          <p:cNvSpPr txBox="1"/>
          <p:nvPr/>
        </p:nvSpPr>
        <p:spPr>
          <a:xfrm>
            <a:off x="4842933" y="0"/>
            <a:ext cx="7349067" cy="92333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rgbClr val="FFFF00"/>
                </a:solidFill>
              </a:rPr>
              <a:t>INTERPRETATION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94D86296-6C06-BDA1-8423-B31D9D012B84}"/>
              </a:ext>
            </a:extLst>
          </p:cNvPr>
          <p:cNvSpPr/>
          <p:nvPr/>
        </p:nvSpPr>
        <p:spPr>
          <a:xfrm>
            <a:off x="138287" y="104086"/>
            <a:ext cx="2901243" cy="1272822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High retail interest in Indian Market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2A3A2F3E-9AF4-6A8B-52EA-CFF3D39E92BC}"/>
              </a:ext>
            </a:extLst>
          </p:cNvPr>
          <p:cNvSpPr/>
          <p:nvPr/>
        </p:nvSpPr>
        <p:spPr>
          <a:xfrm>
            <a:off x="6129869" y="3818467"/>
            <a:ext cx="2856091" cy="1272822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Broader cooling in EV investor appetite post 2021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6DC16260-C170-A17A-3C9D-758BC83AE65C}"/>
              </a:ext>
            </a:extLst>
          </p:cNvPr>
          <p:cNvSpPr/>
          <p:nvPr/>
        </p:nvSpPr>
        <p:spPr>
          <a:xfrm>
            <a:off x="73093" y="3137140"/>
            <a:ext cx="2901243" cy="1272822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Tempered enthusiasm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8F34F24B-1D0A-7E98-8B07-268A787E6B11}"/>
              </a:ext>
            </a:extLst>
          </p:cNvPr>
          <p:cNvSpPr/>
          <p:nvPr/>
        </p:nvSpPr>
        <p:spPr>
          <a:xfrm>
            <a:off x="6129869" y="2236612"/>
            <a:ext cx="2856091" cy="1272822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>
                <a:solidFill>
                  <a:schemeClr val="tx1"/>
                </a:solidFill>
              </a:rPr>
              <a:t>Competitive threats to battery-swap models</a:t>
            </a: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5CE154B4-5595-6BC7-BD87-7A13E021040F}"/>
              </a:ext>
            </a:extLst>
          </p:cNvPr>
          <p:cNvSpPr/>
          <p:nvPr/>
        </p:nvSpPr>
        <p:spPr>
          <a:xfrm>
            <a:off x="145162" y="1620613"/>
            <a:ext cx="2901244" cy="1272822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Gradual recovery trend post-decline in price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605935B3-8DF9-2737-A8B8-08873CBC526A}"/>
              </a:ext>
            </a:extLst>
          </p:cNvPr>
          <p:cNvSpPr/>
          <p:nvPr/>
        </p:nvSpPr>
        <p:spPr>
          <a:xfrm>
            <a:off x="6129869" y="5400322"/>
            <a:ext cx="2856091" cy="1272822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>
                <a:solidFill>
                  <a:schemeClr val="tx1"/>
                </a:solidFill>
              </a:rPr>
              <a:t>Leaned towards risk and </a:t>
            </a:r>
            <a:r>
              <a:rPr lang="en-IN" sz="2000" dirty="0" err="1">
                <a:solidFill>
                  <a:schemeClr val="tx1"/>
                </a:solidFill>
              </a:rPr>
              <a:t>skepticism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65DF3C-28C2-4779-50A1-93A29BB125C7}"/>
              </a:ext>
            </a:extLst>
          </p:cNvPr>
          <p:cNvSpPr txBox="1"/>
          <p:nvPr/>
        </p:nvSpPr>
        <p:spPr>
          <a:xfrm>
            <a:off x="3602746" y="855935"/>
            <a:ext cx="2901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INVESTOR SENTIMENT</a:t>
            </a:r>
            <a:r>
              <a:rPr lang="en-IN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6" name="Arrow: Curved Down 15">
            <a:extLst>
              <a:ext uri="{FF2B5EF4-FFF2-40B4-BE49-F238E27FC236}">
                <a16:creationId xmlns:a16="http://schemas.microsoft.com/office/drawing/2014/main" id="{EB59F68D-3E61-CB2D-1604-A937ED6E69F5}"/>
              </a:ext>
            </a:extLst>
          </p:cNvPr>
          <p:cNvSpPr/>
          <p:nvPr/>
        </p:nvSpPr>
        <p:spPr>
          <a:xfrm rot="155814">
            <a:off x="2982238" y="1934620"/>
            <a:ext cx="1794933" cy="389467"/>
          </a:xfrm>
          <a:prstGeom prst="curvedDownArrow">
            <a:avLst>
              <a:gd name="adj1" fmla="val 32502"/>
              <a:gd name="adj2" fmla="val 90905"/>
              <a:gd name="adj3" fmla="val 5108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83D5CD-785F-BAD4-7DDA-6C8B7EF075F1}"/>
              </a:ext>
            </a:extLst>
          </p:cNvPr>
          <p:cNvSpPr txBox="1"/>
          <p:nvPr/>
        </p:nvSpPr>
        <p:spPr>
          <a:xfrm>
            <a:off x="3558424" y="2439807"/>
            <a:ext cx="1987355" cy="258532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/>
                </a:solidFill>
              </a:rPr>
              <a:t>Introduction of rare earth- free motors in 2W</a:t>
            </a:r>
          </a:p>
          <a:p>
            <a:r>
              <a:rPr lang="en-IN" dirty="0">
                <a:solidFill>
                  <a:schemeClr val="accent2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/>
                </a:solidFill>
              </a:rPr>
              <a:t>Entry into battery storage systems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1093FC-7F03-5474-BD79-37743A92907F}"/>
              </a:ext>
            </a:extLst>
          </p:cNvPr>
          <p:cNvSpPr txBox="1"/>
          <p:nvPr/>
        </p:nvSpPr>
        <p:spPr>
          <a:xfrm>
            <a:off x="56158" y="4675563"/>
            <a:ext cx="32514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Ola was valued at $4B during listing which is lower than the previous valuation of $5.4B(2023) despite making a loss of $189M loss in 2024</a:t>
            </a:r>
          </a:p>
        </p:txBody>
      </p:sp>
      <p:sp>
        <p:nvSpPr>
          <p:cNvPr id="21" name="Arrow: Curved Left 20">
            <a:extLst>
              <a:ext uri="{FF2B5EF4-FFF2-40B4-BE49-F238E27FC236}">
                <a16:creationId xmlns:a16="http://schemas.microsoft.com/office/drawing/2014/main" id="{1F7A5663-055C-0F99-C27F-D5C2B494EA7F}"/>
              </a:ext>
            </a:extLst>
          </p:cNvPr>
          <p:cNvSpPr/>
          <p:nvPr/>
        </p:nvSpPr>
        <p:spPr>
          <a:xfrm rot="20005719">
            <a:off x="2594116" y="3860425"/>
            <a:ext cx="618891" cy="1272822"/>
          </a:xfrm>
          <a:prstGeom prst="curvedLef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790CDF-DFF6-6B1B-4387-36F5DDEA4688}"/>
              </a:ext>
            </a:extLst>
          </p:cNvPr>
          <p:cNvSpPr txBox="1"/>
          <p:nvPr/>
        </p:nvSpPr>
        <p:spPr>
          <a:xfrm>
            <a:off x="9446780" y="4107660"/>
            <a:ext cx="225618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Battery-swap is capital intensive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Puts a lot of depreciative assets in books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Need to seek constant investments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8B08AE-5E54-0271-B568-C3DE6CF926A0}"/>
              </a:ext>
            </a:extLst>
          </p:cNvPr>
          <p:cNvSpPr txBox="1"/>
          <p:nvPr/>
        </p:nvSpPr>
        <p:spPr>
          <a:xfrm>
            <a:off x="9299368" y="2134359"/>
            <a:ext cx="30464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The PBGN network impacts since 90% of market is in Taiwan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Persisting decline in 2W sales trend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5735179-A4E1-B518-076C-0C42E7156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019734"/>
              </p:ext>
            </p:extLst>
          </p:nvPr>
        </p:nvGraphicFramePr>
        <p:xfrm>
          <a:off x="3685256" y="1276185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93113320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395167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Persistent demand but Cautious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High Caution and 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2387374"/>
                  </a:ext>
                </a:extLst>
              </a:tr>
            </a:tbl>
          </a:graphicData>
        </a:graphic>
      </p:graphicFrame>
      <p:sp>
        <p:nvSpPr>
          <p:cNvPr id="25" name="Arrow: Curved Up 24">
            <a:extLst>
              <a:ext uri="{FF2B5EF4-FFF2-40B4-BE49-F238E27FC236}">
                <a16:creationId xmlns:a16="http://schemas.microsoft.com/office/drawing/2014/main" id="{32C56739-7087-02D3-53BB-4FFF2B517B93}"/>
              </a:ext>
            </a:extLst>
          </p:cNvPr>
          <p:cNvSpPr/>
          <p:nvPr/>
        </p:nvSpPr>
        <p:spPr>
          <a:xfrm rot="1246519">
            <a:off x="8432003" y="6311807"/>
            <a:ext cx="965486" cy="454918"/>
          </a:xfrm>
          <a:prstGeom prst="curvedUp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9C943A-E1E3-B09F-6DFE-049196671CEC}"/>
              </a:ext>
            </a:extLst>
          </p:cNvPr>
          <p:cNvSpPr txBox="1"/>
          <p:nvPr/>
        </p:nvSpPr>
        <p:spPr>
          <a:xfrm>
            <a:off x="9211733" y="3917135"/>
            <a:ext cx="26015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solidFill>
                <a:schemeClr val="bg1"/>
              </a:solidFill>
            </a:endParaRPr>
          </a:p>
          <a:p>
            <a:endParaRPr lang="en-IN" b="1" dirty="0">
              <a:solidFill>
                <a:schemeClr val="bg1"/>
              </a:solidFill>
            </a:endParaRPr>
          </a:p>
          <a:p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532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3E4658-B6E2-8B29-400B-BE79B595E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9EC6E7-115B-641F-7539-CA813B5CD497}"/>
              </a:ext>
            </a:extLst>
          </p:cNvPr>
          <p:cNvSpPr txBox="1"/>
          <p:nvPr/>
        </p:nvSpPr>
        <p:spPr>
          <a:xfrm>
            <a:off x="6942220" y="0"/>
            <a:ext cx="5249779" cy="92333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rgbClr val="FFFF00"/>
                </a:solidFill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2A7FC-E683-AAA6-DA7F-AB1AEA872848}"/>
              </a:ext>
            </a:extLst>
          </p:cNvPr>
          <p:cNvSpPr txBox="1"/>
          <p:nvPr/>
        </p:nvSpPr>
        <p:spPr>
          <a:xfrm>
            <a:off x="772027" y="1874728"/>
            <a:ext cx="10840452" cy="4408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550" dirty="0">
                <a:solidFill>
                  <a:schemeClr val="bg1"/>
                </a:solidFill>
              </a:rPr>
              <a:t>Both Ola Electric and Gogoro highlight different stages of EV market evolution — India’s high-growth vs Taiwan’s maturity.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55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50" dirty="0">
                <a:solidFill>
                  <a:schemeClr val="bg1"/>
                </a:solidFill>
              </a:rPr>
              <a:t>The growing adaptation of Electric vehicles in India combined with Ola electric’s expansion into energy storage market and into E-motorcycles market promises high scalability and growth potential.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55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50" dirty="0">
                <a:solidFill>
                  <a:schemeClr val="bg1"/>
                </a:solidFill>
              </a:rPr>
              <a:t>The future resilience for Gogoro depends on innovation and making the EV two-wheelers cheaper since it is the expensive among competitors.</a:t>
            </a:r>
          </a:p>
        </p:txBody>
      </p:sp>
    </p:spTree>
    <p:extLst>
      <p:ext uri="{BB962C8B-B14F-4D97-AF65-F5344CB8AC3E}">
        <p14:creationId xmlns:p14="http://schemas.microsoft.com/office/powerpoint/2010/main" val="2199100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3E462C-2911-5943-4C8D-9AD6AB69F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CF0900-17FA-5A1A-6B2D-CAB7836760C7}"/>
              </a:ext>
            </a:extLst>
          </p:cNvPr>
          <p:cNvSpPr txBox="1"/>
          <p:nvPr/>
        </p:nvSpPr>
        <p:spPr>
          <a:xfrm>
            <a:off x="5979696" y="0"/>
            <a:ext cx="6212304" cy="92333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rgbClr val="FFFF00"/>
                </a:solidFill>
              </a:rPr>
              <a:t>BIBLIOGRAPHY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D6A75C4-EE10-1DC7-1B24-79283F1A35F7}"/>
              </a:ext>
            </a:extLst>
          </p:cNvPr>
          <p:cNvSpPr txBox="1">
            <a:spLocks/>
          </p:cNvSpPr>
          <p:nvPr/>
        </p:nvSpPr>
        <p:spPr>
          <a:xfrm>
            <a:off x="649706" y="1265488"/>
            <a:ext cx="11429999" cy="47069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500" kern="1200" spc="150" baseline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500" kern="1200" spc="150" baseline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400" kern="1200" spc="150" baseline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400" kern="1200" spc="150" baseline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§"/>
              <a:defRPr sz="1400" kern="1200" spc="150" baseline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solidFill>
                  <a:schemeClr val="bg1"/>
                </a:solidFill>
              </a:rPr>
              <a:t>1. </a:t>
            </a:r>
            <a:r>
              <a:rPr lang="en-IN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https://www.chittorgarh.com/ipo_subscription/ola-electric-ipo/1765/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2. https://www.olaelectric.com/</a:t>
            </a:r>
          </a:p>
          <a:p>
            <a:r>
              <a:rPr lang="en-IN" dirty="0">
                <a:solidFill>
                  <a:schemeClr val="bg1"/>
                </a:solidFill>
              </a:rPr>
              <a:t>3. </a:t>
            </a:r>
            <a:r>
              <a:rPr lang="en-IN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https://www.motorcyclesdata.com/2025/09/17/taiwan-motorcycles/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2. </a:t>
            </a:r>
            <a:r>
              <a:rPr lang="en-IN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https://jmkresearch.com/indias-electric-vehicle-sales-crossed-2-million-in-cy2024/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4. </a:t>
            </a:r>
            <a:r>
              <a:rPr lang="en-IN" sz="120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https://tracxn.com/d/companies/gogoro/__9YODZOD3it8P-_zJ6x7VmFZJunEIClvZCNpcaVZzm90/funding-and-investors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5. </a:t>
            </a:r>
            <a:r>
              <a:rPr lang="en-IN" sz="105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https://www.moneycontrol.com/news/business/ipo/ola-electric-ipo-listing-stock-market-debut-rs-76-per-share-12791549.html</a:t>
            </a:r>
            <a:endParaRPr lang="en-IN" sz="105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6. </a:t>
            </a:r>
            <a:r>
              <a:rPr lang="en-IN" sz="1600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https://in.investing.com/equities/poema-global-holdings-historical-data</a:t>
            </a:r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7. </a:t>
            </a:r>
            <a:r>
              <a:rPr lang="en-IN" sz="1600" dirty="0">
                <a:solidFill>
                  <a:schemeClr val="bg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https://finance.yahoo.com/quote/OLAELEC.BO/history/</a:t>
            </a:r>
            <a:endParaRPr lang="en-IN" sz="1600" dirty="0">
              <a:solidFill>
                <a:schemeClr val="bg1"/>
              </a:solidFill>
            </a:endParaRPr>
          </a:p>
          <a:p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4998342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 and Muted">
  <a:themeElements>
    <a:clrScheme name="Japan Navy">
      <a:dk1>
        <a:srgbClr val="231B23"/>
      </a:dk1>
      <a:lt1>
        <a:srgbClr val="FCF5E5"/>
      </a:lt1>
      <a:dk2>
        <a:srgbClr val="282C47"/>
      </a:dk2>
      <a:lt2>
        <a:srgbClr val="FCF5E5"/>
      </a:lt2>
      <a:accent1>
        <a:srgbClr val="FDA431"/>
      </a:accent1>
      <a:accent2>
        <a:srgbClr val="4DA1A8"/>
      </a:accent2>
      <a:accent3>
        <a:srgbClr val="D7E7BA"/>
      </a:accent3>
      <a:accent4>
        <a:srgbClr val="FCF5E5"/>
      </a:accent4>
      <a:accent5>
        <a:srgbClr val="282C47"/>
      </a:accent5>
      <a:accent6>
        <a:srgbClr val="EECED3"/>
      </a:accent6>
      <a:hlink>
        <a:srgbClr val="FCA330"/>
      </a:hlink>
      <a:folHlink>
        <a:srgbClr val="4DA1A8"/>
      </a:folHlink>
    </a:clrScheme>
    <a:fontScheme name="Japanese Template">
      <a:majorFont>
        <a:latin typeface="Meiryo UI"/>
        <a:ea typeface=""/>
        <a:cs typeface=""/>
      </a:majorFont>
      <a:minorFont>
        <a:latin typeface="Meiryo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4575339C-C32B-4598-89D3-40CE402AE836}" vid="{2B7EF1B1-1997-4816-8972-8A33AD129E2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10944</TotalTime>
  <Words>1042</Words>
  <Application>Microsoft Office PowerPoint</Application>
  <PresentationFormat>Widescreen</PresentationFormat>
  <Paragraphs>219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Meiryo UI</vt:lpstr>
      <vt:lpstr>Arial</vt:lpstr>
      <vt:lpstr>Calibri</vt:lpstr>
      <vt:lpstr>Wingdings</vt:lpstr>
      <vt:lpstr>Minimal and Muted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cherry blossom</dc:creator>
  <cp:lastModifiedBy>cherry blossom</cp:lastModifiedBy>
  <cp:revision>10</cp:revision>
  <dcterms:created xsi:type="dcterms:W3CDTF">2025-10-16T14:16:03Z</dcterms:created>
  <dcterms:modified xsi:type="dcterms:W3CDTF">2025-11-01T03:30:13Z</dcterms:modified>
</cp:coreProperties>
</file>